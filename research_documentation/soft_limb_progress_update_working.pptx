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871E0BB-C18A-484B-9491-57F7F2E667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6DB0E7-0104-451D-8905-69387C2205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7474AB5-5F04-4CCE-9E64-7D7D276438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BCF0501-6351-4B1D-9721-086ADDD8E7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72F137-E496-4E0E-B35D-DED490CBAB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033CABB-E598-4472-A7F6-04968E3EF1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1B1DB8-D287-4E06-8605-2B84182265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C206D1-A7B9-4C8A-85AF-F2B0A86175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486D511-E679-469F-8D9D-70BB57542A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D255B3-1EDB-4ED3-98CC-8DF4812FB1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A2E16A-1136-49EE-AB3E-B9FD44B192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5622B4C-940F-447F-BBC5-885D875E135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F2B081E-B9C5-4815-B9F5-AEA5D263131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Soft Continuum Limb: Research Progress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OVERVIEW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86000" y="1080000"/>
            <a:ext cx="6840000" cy="855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700" spc="-1" strike="noStrike">
                <a:solidFill>
                  <a:srgbClr val="17212b"/>
                </a:solidFill>
                <a:latin typeface="Arial"/>
              </a:rPr>
              <a:t>Progress after successful single-module position control</a:t>
            </a:r>
            <a:endParaRPr b="1" lang="en-US" sz="2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86000" y="1674000"/>
            <a:ext cx="6660000" cy="81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44515e"/>
                </a:solidFill>
                <a:latin typeface="Arial"/>
              </a:rPr>
              <a:t>Six-disc constant-curvature simulation • hybrid torque control • virtual strain sensing • Wheatstone-bridge output • RViz reconstruction</a:t>
            </a:r>
            <a:endParaRPr b="0" lang="en-US" sz="170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7272000" y="1820160"/>
            <a:ext cx="4428000" cy="276768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486000" y="4716000"/>
            <a:ext cx="6444000" cy="828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4" name=""/>
          <p:cNvSpPr txBox="1"/>
          <p:nvPr/>
        </p:nvSpPr>
        <p:spPr>
          <a:xfrm>
            <a:off x="666000" y="4842000"/>
            <a:ext cx="2520000" cy="242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Arial"/>
              </a:rPr>
              <a:t>Current verified endpoint</a:t>
            </a:r>
            <a:endParaRPr b="1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66000" y="5058000"/>
            <a:ext cx="4320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1.0 N·m  →  179.9999°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86000" y="5886000"/>
            <a:ext cx="28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00" spc="-1" strike="noStrike">
                <a:solidFill>
                  <a:srgbClr val="44515e"/>
                </a:solidFill>
                <a:latin typeface="Arial"/>
              </a:rPr>
              <a:t>September 2026</a:t>
            </a:r>
            <a:endParaRPr b="0" lang="en-US" sz="13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5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Starting Point and Scope of This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MILESTONE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32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5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66" name=""/>
          <p:cNvSpPr txBox="1"/>
          <p:nvPr/>
        </p:nvSpPr>
        <p:spPr>
          <a:xfrm>
            <a:off x="594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✓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94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Single-module position control established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996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9" name=""/>
          <p:cNvSpPr/>
          <p:nvPr/>
        </p:nvSpPr>
        <p:spPr>
          <a:xfrm>
            <a:off x="3996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70" name=""/>
          <p:cNvSpPr txBox="1"/>
          <p:nvPr/>
        </p:nvSpPr>
        <p:spPr>
          <a:xfrm>
            <a:off x="4158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6 discs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58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Current reduced-order limb architecture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7560000" y="972000"/>
            <a:ext cx="3924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73" name=""/>
          <p:cNvSpPr/>
          <p:nvPr/>
        </p:nvSpPr>
        <p:spPr>
          <a:xfrm>
            <a:off x="7560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74" name=""/>
          <p:cNvSpPr txBox="1"/>
          <p:nvPr/>
        </p:nvSpPr>
        <p:spPr>
          <a:xfrm>
            <a:off x="7722000" y="1072800"/>
            <a:ext cx="3690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180°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722000" y="1396800"/>
            <a:ext cx="369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Active maximum bend in both interfaces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50000" y="2070000"/>
            <a:ext cx="612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Work completed after the baseline milestone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244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66000" y="243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Converted the twelve-disc normalization logic to a six-disc, five-interval model.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68000" y="2930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6000" y="2916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Synchronized all physical intervals so the limb assumes one curve during motion.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68000" y="3416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66000" y="3402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torque-commanded admittance while preserving position-control operation.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68000" y="3902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6000" y="3888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two rings of three pose-derived virtual strain gauges and bridge voltages.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68000" y="4388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000" y="4374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Published robot_description and joint states for sensor-driven RViz visualization.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8000" y="487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66000" y="486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reproducible regression tests and a continuously updated research record.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90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91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Six-Disc Working Architecture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SIMULATION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414000" y="1570680"/>
            <a:ext cx="6264000" cy="3915000"/>
          </a:xfrm>
          <a:prstGeom prst="rect">
            <a:avLst/>
          </a:prstGeom>
          <a:ln w="0">
            <a:noFill/>
          </a:ln>
        </p:spPr>
      </p:pic>
      <p:sp>
        <p:nvSpPr>
          <p:cNvPr id="97" name=""/>
          <p:cNvSpPr txBox="1"/>
          <p:nvPr/>
        </p:nvSpPr>
        <p:spPr>
          <a:xfrm>
            <a:off x="6912000" y="972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Working configuration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876000" y="138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074000" y="136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Six physical discs: Disk_00 through Disk_05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876000" y="19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074000" y="189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Five physical bending intervals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876000" y="242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074000" y="2412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Hanging base with active gravity compensation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876000" y="294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074000" y="2934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Direct runtime D6 joint per interval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76000" y="347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074000" y="3456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240 Hz physics and 60 Hz rendering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876000" y="39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074000" y="397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Overdamped position drives: stiffness 6400, damping 240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876000" y="45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074000" y="450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Twist locked; bend direction controlled by θ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912000" y="5508000"/>
            <a:ext cx="4140000" cy="28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Captured from the current Isaac Sim working launch.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1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1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From Position Control to Hybrid Torque Control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CONTROL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360000" y="1296360"/>
            <a:ext cx="6912000" cy="377928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 txBox="1"/>
          <p:nvPr/>
        </p:nvSpPr>
        <p:spPr>
          <a:xfrm>
            <a:off x="7560000" y="990000"/>
            <a:ext cx="378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Implemented control law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560000" y="1296000"/>
            <a:ext cx="3780000" cy="370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000" spc="-1" strike="noStrike">
                <a:solidFill>
                  <a:srgbClr val="17212b"/>
                </a:solidFill>
                <a:latin typeface="Arial"/>
              </a:rPr>
              <a:t>φeq = 180° · τc / 1.0 N·m</a:t>
            </a:r>
            <a:endParaRPr b="1" lang="en-US" sz="20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560000" y="18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758000" y="180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0.1 N·m → 18°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560000" y="233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758000" y="2322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0.5 N·m → 90°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560000" y="285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758000" y="2844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1.0 N·m → 180°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60000" y="338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758000" y="3366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Commands beyond ±1.0 N·m are clipped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560000" y="390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58000" y="3888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2.0 N·m/s command slew limit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560000" y="442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758000" y="441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commands are ignored while nonzero torque is active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60000" y="5094000"/>
            <a:ext cx="3780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b63a3a"/>
                </a:solidFill>
                <a:latin typeface="Arial"/>
              </a:rPr>
              <a:t>This is calibrated torque-commanded admittance—not raw open-loop torque and not a physical moment–curvature calibration.</a:t>
            </a:r>
            <a:endParaRPr b="1" lang="en-US" sz="110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3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3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Constant-Curvature Motion Is Enforced Across the Limb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378000" y="1642320"/>
            <a:ext cx="5400000" cy="33750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2"/>
          <a:stretch/>
        </p:blipFill>
        <p:spPr>
          <a:xfrm>
            <a:off x="5976000" y="1184400"/>
            <a:ext cx="5544000" cy="303120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6156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46" name=""/>
          <p:cNvSpPr/>
          <p:nvPr/>
        </p:nvSpPr>
        <p:spPr>
          <a:xfrm>
            <a:off x="6156000" y="4680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147" name=""/>
          <p:cNvSpPr txBox="1"/>
          <p:nvPr/>
        </p:nvSpPr>
        <p:spPr>
          <a:xfrm>
            <a:off x="6318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 each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318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Five local rotations at the 180°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8892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50" name=""/>
          <p:cNvSpPr/>
          <p:nvPr/>
        </p:nvSpPr>
        <p:spPr>
          <a:xfrm>
            <a:off x="8892000" y="4680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1" name=""/>
          <p:cNvSpPr txBox="1"/>
          <p:nvPr/>
        </p:nvSpPr>
        <p:spPr>
          <a:xfrm>
            <a:off x="9054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054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Measured torque-mapping tracking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048000" y="5652000"/>
            <a:ext cx="5328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44515e"/>
                </a:solidFill>
                <a:latin typeface="Arial"/>
              </a:rPr>
              <a:t>The controller distributes one total bend uniformly; synchronized target slew prevents the former segment-by-segment transient.</a:t>
            </a:r>
            <a:endParaRPr b="0" lang="en-US" sz="12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5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Six Virtual Strain Gauges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360000" y="1175040"/>
            <a:ext cx="6084000" cy="3409920"/>
          </a:xfrm>
          <a:prstGeom prst="rect">
            <a:avLst/>
          </a:prstGeom>
          <a:ln w="0">
            <a:noFill/>
          </a:ln>
        </p:spPr>
      </p:pic>
      <p:sp>
        <p:nvSpPr>
          <p:cNvPr id="162" name=""/>
          <p:cNvSpPr txBox="1"/>
          <p:nvPr/>
        </p:nvSpPr>
        <p:spPr>
          <a:xfrm>
            <a:off x="6732000" y="936000"/>
            <a:ext cx="216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Placement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732000" y="12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930000" y="1278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1 at one-third length: 0°, 120°, 240°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732000" y="179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30000" y="1782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2 at two-thirds length: 180°, 300°, 60°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732000" y="230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930000" y="2286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Second ring uses the requested 180° set offset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732000" y="28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30000" y="2790000"/>
            <a:ext cx="448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Readings derive from live disc poses—even during manual dragging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732000" y="3492000"/>
            <a:ext cx="378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Implemented surface-strain model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732000" y="3798000"/>
            <a:ext cx="4428000" cy="342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ε(α) = r [−κx sin(α) + κy cos(α)]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732000" y="4410000"/>
            <a:ext cx="4500000" cy="75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50" spc="-1" strike="noStrike">
                <a:solidFill>
                  <a:srgbClr val="b63a3a"/>
                </a:solidFill>
                <a:latin typeface="Arial"/>
              </a:rPr>
              <a:t>The readings are kinematic, pose-derived estimates. Physical gauge bonding, material hysteresis, temperature drift, and calibration remain future work.</a:t>
            </a:r>
            <a:endParaRPr b="1" lang="en-US" sz="11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7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7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Live Six-Channel Strain Response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RESULTS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 txBox="1"/>
          <p:nvPr/>
        </p:nvSpPr>
        <p:spPr>
          <a:xfrm>
            <a:off x="9252000" y="1008000"/>
            <a:ext cx="216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Acquisition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180000" y="134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378000" y="1332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Captured from live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180000" y="194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378000" y="1926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Torque stepped through 0, 0.5, and 1.0 N·m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9180000" y="253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9378000" y="2520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Two stations × three circumferential gauges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80000" y="312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78000" y="3114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Opposing signs distinguish tension and compression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80000" y="372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378000" y="3708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Signals remain available without a control command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216000" y="4860000"/>
            <a:ext cx="223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Simulated, pose-derived strain; not yet hardware validated.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9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9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Wheatstone-Bridge Voltage Layer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INSTRUMENTATION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08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9216000" y="954000"/>
            <a:ext cx="2196000" cy="286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00" spc="-1" strike="noStrike">
                <a:solidFill>
                  <a:srgbClr val="500000"/>
                </a:solidFill>
                <a:latin typeface="Arial"/>
              </a:rPr>
              <a:t>Nominal bridge model</a:t>
            </a:r>
            <a:endParaRPr b="1" lang="en-US" sz="1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180000" y="136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378000" y="1350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350 Ω foil gauge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9180000" y="188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9378000" y="1872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Gauge factor GF = 2.0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180000" y="240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378000" y="2394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Quarter-bridge topology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180000" y="293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378000" y="2916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Excitation Vexc = 2.5 V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80000" y="345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9378000" y="3438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Validity flags on separate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180000" y="397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9378000" y="3960000"/>
            <a:ext cx="2178000" cy="617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Non-finite model regions displayed at a marked 1.25 V boundary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9216000" y="4752000"/>
            <a:ext cx="2232000" cy="71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The voltage layer supports DAQ planning; it does not establish a purchased sensor’s survivability or experimental accuracy.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1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1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ROS 2 and RViz Visualization Pipeline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INTEGRATION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09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468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24" name=""/>
          <p:cNvSpPr txBox="1"/>
          <p:nvPr/>
        </p:nvSpPr>
        <p:spPr>
          <a:xfrm>
            <a:off x="540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Isaac Sim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six-disc limb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844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2916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Live disc poses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and commands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5220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228" name=""/>
          <p:cNvSpPr txBox="1"/>
          <p:nvPr/>
        </p:nvSpPr>
        <p:spPr>
          <a:xfrm>
            <a:off x="5292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Six strain +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bridge channels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7596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30" name=""/>
          <p:cNvSpPr txBox="1"/>
          <p:nvPr/>
        </p:nvSpPr>
        <p:spPr>
          <a:xfrm>
            <a:off x="7668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reconstruction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9972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32" name=""/>
          <p:cNvSpPr txBox="1"/>
          <p:nvPr/>
        </p:nvSpPr>
        <p:spPr>
          <a:xfrm>
            <a:off x="10044000" y="2448000"/>
            <a:ext cx="1584000" cy="721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RViz RobotModel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and TF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250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626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02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378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80000" y="40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278000" y="4032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robot_description is published at simulator launch.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0000" y="456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278000" y="4554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Joint states reconstruct the sensed limb rather than displaying a second physical Isaac limb.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80000" y="509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278000" y="5076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 static map → soft_limb_disk_00 transform supplies the RViz fixed frame.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Verification Summary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EVIDENCE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10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43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1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52" name=""/>
          <p:cNvSpPr txBox="1"/>
          <p:nvPr/>
        </p:nvSpPr>
        <p:spPr>
          <a:xfrm>
            <a:off x="59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9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1.0 N·m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22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5" name=""/>
          <p:cNvSpPr/>
          <p:nvPr/>
        </p:nvSpPr>
        <p:spPr>
          <a:xfrm>
            <a:off x="322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256" name=""/>
          <p:cNvSpPr txBox="1"/>
          <p:nvPr/>
        </p:nvSpPr>
        <p:spPr>
          <a:xfrm>
            <a:off x="338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PASS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38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1.5 N·m request clipped to 1.0 N·m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601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9" name=""/>
          <p:cNvSpPr/>
          <p:nvPr/>
        </p:nvSpPr>
        <p:spPr>
          <a:xfrm>
            <a:off x="60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260" name=""/>
          <p:cNvSpPr txBox="1"/>
          <p:nvPr/>
        </p:nvSpPr>
        <p:spPr>
          <a:xfrm>
            <a:off x="617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17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Every physical interval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80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63" name=""/>
          <p:cNvSpPr/>
          <p:nvPr/>
        </p:nvSpPr>
        <p:spPr>
          <a:xfrm>
            <a:off x="880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264" name=""/>
          <p:cNvSpPr txBox="1"/>
          <p:nvPr/>
        </p:nvSpPr>
        <p:spPr>
          <a:xfrm>
            <a:off x="896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96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Torque mapping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68000" y="2160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Additional verified behavior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468000" y="253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66000" y="2520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control still reaches the 180° endpoint.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68000" y="312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66000" y="3114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First-step X/Y targets are identical across all five physical intervals.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8000" y="372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000" y="3708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The sixth disc is treated as the final disc—not as a midpoint from the old twelve-disc model.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68000" y="431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6000" y="4302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Syntax, topology, bridge-model, ROS build, Isaac regression, and LaTeX builds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704000" y="2160000"/>
            <a:ext cx="3708000" cy="298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76" name=""/>
          <p:cNvSpPr txBox="1"/>
          <p:nvPr/>
        </p:nvSpPr>
        <p:spPr>
          <a:xfrm>
            <a:off x="7920000" y="2358000"/>
            <a:ext cx="32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interpretation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20000" y="2754000"/>
            <a:ext cx="3240000" cy="168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00" spc="-1" strike="noStrike">
                <a:solidFill>
                  <a:srgbClr val="17212b"/>
                </a:solidFill>
                <a:latin typeface="Arial"/>
              </a:rPr>
              <a:t>These results validate the implemented software mapping in unloaded, single-axis simulation. They do not yet validate material behavior, payload response, physical torque requirements, or real strain gauges.</a:t>
            </a:r>
            <a:endParaRPr b="0" lang="en-US" sz="14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7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8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What Changed in the Latest Iteration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LATEST UPDATE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04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44515e"/>
                </a:solidFill>
                <a:latin typeface="Arial"/>
              </a:rPr>
              <a:t>Previous development state</a:t>
            </a:r>
            <a:endParaRPr b="1" lang="en-US" sz="19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468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87" name=""/>
          <p:cNvSpPr txBox="1"/>
          <p:nvPr/>
        </p:nvSpPr>
        <p:spPr>
          <a:xfrm>
            <a:off x="720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18000" y="1728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range temporarily extended to 1.5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20000" y="2336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918000" y="2322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Accumulated bend measurement demonstrated 270°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0000" y="2930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918000" y="2916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Useful as historical topology evidence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20000" y="3524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18000" y="3510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Outside the intended active research range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300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Current active working state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64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97" name=""/>
          <p:cNvSpPr txBox="1"/>
          <p:nvPr/>
        </p:nvSpPr>
        <p:spPr>
          <a:xfrm>
            <a:off x="6516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714000" y="17280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Maximum bend restored to ±180°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516000" y="22896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714000" y="22752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command capped at ±1.0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516000" y="28368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714000" y="28224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Over-limit commands clamp safely and visibly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516000" y="33840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14000" y="33696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Verifier checks requested vs. applied torque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516000" y="39312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14000" y="39168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README, validation log, and research document synchronized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40000" y="5130000"/>
            <a:ext cx="9360000" cy="5382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Decision: retain the 270° result only as historical pre-cap evidence; use 180° as the active experimental boundary.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0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1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Third Objective: Three Modules in Series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SOFT_3_WORKING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396000" y="846000"/>
            <a:ext cx="4932000" cy="4932000"/>
          </a:xfrm>
          <a:prstGeom prst="rect">
            <a:avLst/>
          </a:prstGeom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5652000" y="918000"/>
            <a:ext cx="5328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soft_3_working architecture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652000" y="129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850000" y="127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serial six-disc modules: 18 physical discs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652000" y="176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850000" y="174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Five actuated intervals per module: 15 total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652000" y="222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850000" y="221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Two fixed connectors transmit pose between modules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5652000" y="2696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850000" y="2682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The first disc is fixed in air; the chain hangs under gravity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652000" y="3164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850000" y="3150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φ-torque commands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652000" y="363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850000" y="361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θ bending directions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52000" y="410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850000" y="408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Same synchronized constant-curvature target inside every module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652000" y="456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850000" y="455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Source, launch, control, plotting, verification, and USD files use the soft_3_working name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688000" y="5112000"/>
            <a:ext cx="547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00" spc="-1" strike="noStrike">
                <a:solidFill>
                  <a:srgbClr val="44515e"/>
                </a:solidFill>
                <a:latin typeface="Arial"/>
              </a:rPr>
              <a:t>Live Isaac Sim capture using the Grey Studio light rig; overlapping discs reflect the commanded compound three-dimensional pose.</a:t>
            </a:r>
            <a:endParaRPr b="0" lang="en-US" sz="11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3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3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Independent Three-Module Control: Verified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43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2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43" name=""/>
          <p:cNvSpPr txBox="1"/>
          <p:nvPr/>
        </p:nvSpPr>
        <p:spPr>
          <a:xfrm>
            <a:off x="59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90.0047°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9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1: 0.50 N·m, θ = 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421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6" name=""/>
          <p:cNvSpPr/>
          <p:nvPr/>
        </p:nvSpPr>
        <p:spPr>
          <a:xfrm>
            <a:off x="42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347" name=""/>
          <p:cNvSpPr txBox="1"/>
          <p:nvPr/>
        </p:nvSpPr>
        <p:spPr>
          <a:xfrm>
            <a:off x="437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134.9999°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7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2: 0.75 N·m, θ = 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799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50" name=""/>
          <p:cNvSpPr/>
          <p:nvPr/>
        </p:nvSpPr>
        <p:spPr>
          <a:xfrm>
            <a:off x="799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351" name=""/>
          <p:cNvSpPr txBox="1"/>
          <p:nvPr/>
        </p:nvSpPr>
        <p:spPr>
          <a:xfrm>
            <a:off x="815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815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3: 1.00 N·m, θ = −90°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04000" y="2178000"/>
            <a:ext cx="468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12-second headless regression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04000" y="258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02000" y="2574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All five first-step interval targets matched within each module.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04000" y="31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02000" y="3132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Final-second ranges: 0.0001642°, 0.0000568°, 0.0000713°.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04000" y="37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02000" y="3690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Connector residual bends: 0.0000672° and 0.0000394°.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04000" y="426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02000" y="4248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Detected all 18 gauge publishers.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04000" y="482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02000" y="4806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Overall verifier result: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8064000" y="2196000"/>
            <a:ext cx="3420000" cy="2952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65" name=""/>
          <p:cNvSpPr txBox="1"/>
          <p:nvPr/>
        </p:nvSpPr>
        <p:spPr>
          <a:xfrm>
            <a:off x="8280000" y="2412000"/>
            <a:ext cx="2952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boundary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280000" y="2808000"/>
            <a:ext cx="2916000" cy="172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This validates independent software commands, synchronized interval targets, connector rigidity, and numerical stability. It does not calibrate physical torque, material response, or payload capacity.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6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6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Eighteen-Channel Bridge-Voltage Instrumentation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1362960" y="810000"/>
            <a:ext cx="6886080" cy="513000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 txBox="1"/>
          <p:nvPr/>
        </p:nvSpPr>
        <p:spPr>
          <a:xfrm>
            <a:off x="9450000" y="918000"/>
            <a:ext cx="2088000" cy="525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550" spc="-1" strike="noStrike">
                <a:solidFill>
                  <a:srgbClr val="500000"/>
                </a:solidFill>
                <a:latin typeface="Arial"/>
              </a:rPr>
              <a:t>Repeated sensing layout</a:t>
            </a:r>
            <a:endParaRPr b="1" lang="en-US" sz="15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396000" y="1310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594000" y="1296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Six gauges per module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396000" y="1792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9594000" y="17784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Two axial stations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396000" y="2275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594000" y="22608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Three gauges per ring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396000" y="27576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9594000" y="27432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bridge-voltage channels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9396000" y="32400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9594000" y="32256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validity flags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9396000" y="3722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594000" y="3708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Quarter bridge: 350 Ω, GF 2.0, 2.5 V excitation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9396000" y="4204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9594000" y="41904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All 18 voltage graphs open automatically with the simulation launch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9396000" y="4687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9594000" y="46728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Pose-derived readings remain available without a command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432000" y="5328000"/>
            <a:ext cx="2088000" cy="678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Live voltage graph captured from /soft_snake/module_N/sensors/... topics.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9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9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Automated Torque–Theta Voltage Dataset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DATA ACQUISITION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50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401" name=""/>
          <p:cNvSpPr txBox="1"/>
          <p:nvPr/>
        </p:nvSpPr>
        <p:spPr>
          <a:xfrm>
            <a:off x="576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500000"/>
                </a:solidFill>
                <a:latin typeface="Arial"/>
              </a:rPr>
              <a:t>COMMAND GRID</a:t>
            </a:r>
            <a:endParaRPr b="1" lang="en-US" sz="13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594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4 torques × 5 θ directions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for each of 3 modules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024000" y="1530000"/>
            <a:ext cx="252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5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3348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405" name=""/>
          <p:cNvSpPr txBox="1"/>
          <p:nvPr/>
        </p:nvSpPr>
        <p:spPr>
          <a:xfrm>
            <a:off x="3474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SETTLE + SAMPLE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3492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3 s settling; 20 Hz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18 voltages + pose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5922000" y="1530000"/>
            <a:ext cx="252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5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6246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409" name=""/>
          <p:cNvSpPr txBox="1"/>
          <p:nvPr/>
        </p:nvSpPr>
        <p:spPr>
          <a:xfrm>
            <a:off x="6372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d6a84b"/>
                </a:solidFill>
                <a:latin typeface="Arial"/>
              </a:rPr>
              <a:t>QUALITY FLAGS</a:t>
            </a:r>
            <a:endParaRPr b="1" lang="en-US" sz="135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390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18 validity channels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controller-conflict guard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8820000" y="1530000"/>
            <a:ext cx="252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5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9144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3e8e62"/>
            </a:solidFill>
            <a:round/>
          </a:ln>
        </p:spPr>
      </p:sp>
      <p:sp>
        <p:nvSpPr>
          <p:cNvPr id="413" name=""/>
          <p:cNvSpPr txBox="1"/>
          <p:nvPr/>
        </p:nvSpPr>
        <p:spPr>
          <a:xfrm>
            <a:off x="9270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3e8e62"/>
                </a:solidFill>
                <a:latin typeface="Arial"/>
              </a:rPr>
              <a:t>EXCEL OUTPUT</a:t>
            </a:r>
            <a:endParaRPr b="1" lang="en-US" sz="135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9288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Raw rows + case and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sensor summaries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720000" y="2988000"/>
            <a:ext cx="3096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16" name=""/>
          <p:cNvSpPr/>
          <p:nvPr/>
        </p:nvSpPr>
        <p:spPr>
          <a:xfrm>
            <a:off x="720000" y="2988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17" name=""/>
          <p:cNvSpPr txBox="1"/>
          <p:nvPr/>
        </p:nvSpPr>
        <p:spPr>
          <a:xfrm>
            <a:off x="882000" y="3088800"/>
            <a:ext cx="2862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61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882000" y="3412800"/>
            <a:ext cx="2862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default cases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4536000" y="2988000"/>
            <a:ext cx="3096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20" name=""/>
          <p:cNvSpPr/>
          <p:nvPr/>
        </p:nvSpPr>
        <p:spPr>
          <a:xfrm>
            <a:off x="4536000" y="2988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421" name=""/>
          <p:cNvSpPr txBox="1"/>
          <p:nvPr/>
        </p:nvSpPr>
        <p:spPr>
          <a:xfrm>
            <a:off x="4698000" y="3088800"/>
            <a:ext cx="2862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61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4698000" y="3412800"/>
            <a:ext cx="2862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one snapshot per case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8352000" y="2988000"/>
            <a:ext cx="3096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24" name=""/>
          <p:cNvSpPr/>
          <p:nvPr/>
        </p:nvSpPr>
        <p:spPr>
          <a:xfrm>
            <a:off x="8352000" y="2988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425" name=""/>
          <p:cNvSpPr txBox="1"/>
          <p:nvPr/>
        </p:nvSpPr>
        <p:spPr>
          <a:xfrm>
            <a:off x="8514000" y="3088800"/>
            <a:ext cx="2862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1,098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8514000" y="3412800"/>
            <a:ext cx="2862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long-format sensor rows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20000" y="4370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918000" y="4356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Four sheets match Final Data.xlsx, including 38-column Samples and 13-column Final Sensor Data.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720000" y="4748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918000" y="4734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Mandatory fields: case, module, section, gauge, torque command, θ command, and voltage.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720000" y="5126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918000" y="5112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Recording starts only after applied torque/theta pass a continuous 0.5 s command gate.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720000" y="5504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918000" y="5490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Full gated sweep: 61/61 cases, one snapshot per case, and 1,098 sensor rows.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20000" y="5882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918000" y="5868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Voltage remains pose-derived simulation output; physical calibration is still required.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3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3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Next Research Steps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FORWARD PLAN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468000" y="95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45" name=""/>
          <p:cNvSpPr txBox="1"/>
          <p:nvPr/>
        </p:nvSpPr>
        <p:spPr>
          <a:xfrm>
            <a:off x="486000" y="109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368000" y="99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Physical gauge selection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104000" y="99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Choose a commercial gauge, substrate, adhesive, and temperature compensation strategy.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468000" y="194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49" name=""/>
          <p:cNvSpPr txBox="1"/>
          <p:nvPr/>
        </p:nvSpPr>
        <p:spPr>
          <a:xfrm>
            <a:off x="486000" y="208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02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368000" y="198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Bench calibration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4104000" y="198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Measure real strain and bridge voltage against known curvature and loading.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468000" y="293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3" name=""/>
          <p:cNvSpPr txBox="1"/>
          <p:nvPr/>
        </p:nvSpPr>
        <p:spPr>
          <a:xfrm>
            <a:off x="486000" y="307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03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1368000" y="297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Independent shape validation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104000" y="297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Compare reconstructed curvature with motion capture or vision—not the same pose source.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468000" y="392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7" name=""/>
          <p:cNvSpPr txBox="1"/>
          <p:nvPr/>
        </p:nvSpPr>
        <p:spPr>
          <a:xfrm>
            <a:off x="486000" y="406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04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368000" y="396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Loaded and directional trials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4104000" y="396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Repeat across θ, negative torque, payloads, disturbances, and repeated cycles.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468000" y="491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61" name=""/>
          <p:cNvSpPr txBox="1"/>
          <p:nvPr/>
        </p:nvSpPr>
        <p:spPr>
          <a:xfrm>
            <a:off x="486000" y="505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05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368000" y="495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Uncertainty and statistics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104000" y="495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Use repeated XLSX sweeps to report repeatability, hysteresis, drift, confidence intervals, and failure limits.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6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6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Outcome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CONCLUSION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720000" y="1116000"/>
            <a:ext cx="10620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500000"/>
                </a:solidFill>
                <a:latin typeface="Arial"/>
              </a:rPr>
              <a:t>A reproducible six-disc research platform now connects</a:t>
            </a:r>
            <a:endParaRPr b="1" lang="en-US" sz="2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1440000" y="1800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CONTROL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672000" y="1771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Position + calibrated torque admittance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440000" y="2178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"/>
          <p:cNvSpPr txBox="1"/>
          <p:nvPr/>
        </p:nvSpPr>
        <p:spPr>
          <a:xfrm>
            <a:off x="1440000" y="2538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3672000" y="2509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Synchronized five-interval constant-curvature target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1440000" y="2916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"/>
          <p:cNvSpPr txBox="1"/>
          <p:nvPr/>
        </p:nvSpPr>
        <p:spPr>
          <a:xfrm>
            <a:off x="1440000" y="3276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SENSING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672000" y="3247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18 pose-derived strain channels + bridge voltages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1440000" y="3654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"/>
          <p:cNvSpPr txBox="1"/>
          <p:nvPr/>
        </p:nvSpPr>
        <p:spPr>
          <a:xfrm>
            <a:off x="1440000" y="4014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VISUALIZATION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672000" y="3985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Isaac Sim + sensor-driven RViz reconstruction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1440000" y="4392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4" name=""/>
          <p:cNvSpPr txBox="1"/>
          <p:nvPr/>
        </p:nvSpPr>
        <p:spPr>
          <a:xfrm>
            <a:off x="1440000" y="4752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EVIDENCE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672000" y="4723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Automated tests, XLSX datasets, and research documentation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1080000" y="5868000"/>
            <a:ext cx="9900000" cy="3564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Active boundary: ±1.0 N·m and ±180°  •  Next milestone: physical sensor calibration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2026-10-12T10:51:27Z</dcterms:created>
  <dc:creator/>
  <dc:description/>
  <dc:language>en-US</dc:language>
  <cp:lastModifiedBy/>
  <dcterms:modified xsi:type="dcterms:W3CDTF">2026-10-12T10:51:28Z</dcterms:modified>
  <cp:revision>1</cp:revision>
  <dc:subject/>
  <dc:title/>
</cp:coreProperties>
</file>