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F6F42B-F9D3-4959-B0EF-C8B3300B98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953C76-1931-47A2-A488-5544262E8D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D704F0-6496-4F15-96EE-DAF6E83C5E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2A2338-3C5A-4D38-B238-D0AF5E190C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6ED094-7BC1-436F-A95D-114060D51B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4107D1-27EC-4F61-BA96-EE8E1D61B2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267EF9-BABE-4D25-A6F5-D6D3D928C2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666C0C-8D4E-434C-9947-C42FC27894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135813-19E7-4E0E-8377-27DDBE6887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7BBA29-AB69-4BF7-B7E9-732F1321C5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2A288-E93D-4234-8DEA-97C51F157F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DAD7E1-DB38-43CC-994A-323BC23108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00E7DEE-A548-45E9-9D1B-413A0EE8F5D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44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5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Soft Continuum Limb: Research Progress Update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OVERVIEW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01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86000" y="1080000"/>
            <a:ext cx="6840000" cy="855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700" spc="-1" strike="noStrike">
                <a:solidFill>
                  <a:srgbClr val="17212b"/>
                </a:solidFill>
                <a:latin typeface="Arial"/>
              </a:rPr>
              <a:t>Progress after successful single-module position control</a:t>
            </a:r>
            <a:endParaRPr b="1" lang="en-US" sz="27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86000" y="1674000"/>
            <a:ext cx="6660000" cy="813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44515e"/>
                </a:solidFill>
                <a:latin typeface="Arial"/>
              </a:rPr>
              <a:t>Six-disc constant-curvature simulation • hybrid torque control • virtual strain sensing • Wheatstone-bridge output • RViz reconstruction</a:t>
            </a:r>
            <a:endParaRPr b="0" lang="en-US" sz="170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7272000" y="1820160"/>
            <a:ext cx="4428000" cy="2767680"/>
          </a:xfrm>
          <a:prstGeom prst="rect">
            <a:avLst/>
          </a:prstGeom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486000" y="4716000"/>
            <a:ext cx="6444000" cy="828000"/>
          </a:xfrm>
          <a:prstGeom prst="round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54" name=""/>
          <p:cNvSpPr txBox="1"/>
          <p:nvPr/>
        </p:nvSpPr>
        <p:spPr>
          <a:xfrm>
            <a:off x="666000" y="4842000"/>
            <a:ext cx="2520000" cy="242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Current verified endpoint</a:t>
            </a:r>
            <a:endParaRPr b="1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66000" y="5058000"/>
            <a:ext cx="4320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1.0 N·m  →  179.9999°</a:t>
            </a:r>
            <a:endParaRPr b="1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86000" y="5886000"/>
            <a:ext cx="28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44515e"/>
                </a:solidFill>
                <a:latin typeface="Arial"/>
              </a:rPr>
              <a:t>September 2026</a:t>
            </a:r>
            <a:endParaRPr b="0" lang="en-US" sz="1300" spc="-1" strike="noStrike">
              <a:solidFill>
                <a:srgbClr val="44515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58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59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Starting Point and Scope of This Update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MILESTONE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02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32000" y="972000"/>
            <a:ext cx="3312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65" name=""/>
          <p:cNvSpPr/>
          <p:nvPr/>
        </p:nvSpPr>
        <p:spPr>
          <a:xfrm>
            <a:off x="432000" y="972000"/>
            <a:ext cx="57600" cy="810000"/>
          </a:xfrm>
          <a:prstGeom prst="rect">
            <a:avLst/>
          </a:prstGeom>
          <a:solidFill>
            <a:srgbClr val="3e8e62"/>
          </a:solidFill>
          <a:ln w="7200">
            <a:solidFill>
              <a:srgbClr val="3e8e62"/>
            </a:solidFill>
            <a:round/>
          </a:ln>
        </p:spPr>
      </p:sp>
      <p:sp>
        <p:nvSpPr>
          <p:cNvPr id="66" name=""/>
          <p:cNvSpPr txBox="1"/>
          <p:nvPr/>
        </p:nvSpPr>
        <p:spPr>
          <a:xfrm>
            <a:off x="594000" y="1072800"/>
            <a:ext cx="3078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3e8e62"/>
                </a:solidFill>
                <a:latin typeface="Arial"/>
              </a:rPr>
              <a:t>✓</a:t>
            </a:r>
            <a:endParaRPr b="1" lang="en-US" sz="2300" spc="-1" strike="noStrike">
              <a:solidFill>
                <a:srgbClr val="3e8e62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94000" y="1396800"/>
            <a:ext cx="3078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Single-module position control established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996000" y="972000"/>
            <a:ext cx="3312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69" name=""/>
          <p:cNvSpPr/>
          <p:nvPr/>
        </p:nvSpPr>
        <p:spPr>
          <a:xfrm>
            <a:off x="3996000" y="972000"/>
            <a:ext cx="57600" cy="810000"/>
          </a:xfrm>
          <a:prstGeom prst="rect">
            <a:avLst/>
          </a:prstGeom>
          <a:solidFill>
            <a:srgbClr val="167d8d"/>
          </a:solidFill>
          <a:ln w="7200">
            <a:solidFill>
              <a:srgbClr val="167d8d"/>
            </a:solidFill>
            <a:round/>
          </a:ln>
        </p:spPr>
      </p:sp>
      <p:sp>
        <p:nvSpPr>
          <p:cNvPr id="70" name=""/>
          <p:cNvSpPr txBox="1"/>
          <p:nvPr/>
        </p:nvSpPr>
        <p:spPr>
          <a:xfrm>
            <a:off x="4158000" y="1072800"/>
            <a:ext cx="3078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167d8d"/>
                </a:solidFill>
                <a:latin typeface="Arial"/>
              </a:rPr>
              <a:t>6 discs</a:t>
            </a:r>
            <a:endParaRPr b="1" lang="en-US" sz="2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158000" y="1396800"/>
            <a:ext cx="3078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Current reduced-order limb architecture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560000" y="972000"/>
            <a:ext cx="3924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73" name=""/>
          <p:cNvSpPr/>
          <p:nvPr/>
        </p:nvSpPr>
        <p:spPr>
          <a:xfrm>
            <a:off x="7560000" y="972000"/>
            <a:ext cx="57600" cy="810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74" name=""/>
          <p:cNvSpPr txBox="1"/>
          <p:nvPr/>
        </p:nvSpPr>
        <p:spPr>
          <a:xfrm>
            <a:off x="7722000" y="1072800"/>
            <a:ext cx="3690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500000"/>
                </a:solidFill>
                <a:latin typeface="Arial"/>
              </a:rPr>
              <a:t>180°</a:t>
            </a:r>
            <a:endParaRPr b="1" lang="en-US" sz="23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722000" y="1396800"/>
            <a:ext cx="369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Active maximum bend in both interfaces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450000" y="2070000"/>
            <a:ext cx="6120000" cy="342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17212b"/>
                </a:solidFill>
                <a:latin typeface="Arial"/>
              </a:rPr>
              <a:t>Work completed after the baseline milestone</a:t>
            </a:r>
            <a:endParaRPr b="1" lang="en-US" sz="18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68000" y="2444400"/>
            <a:ext cx="180000" cy="277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66000" y="2430000"/>
            <a:ext cx="10674000" cy="482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50" spc="-1" strike="noStrike">
                <a:solidFill>
                  <a:srgbClr val="17212b"/>
                </a:solidFill>
                <a:latin typeface="Arial"/>
              </a:rPr>
              <a:t>Converted the twelve-disc normalization logic to a six-disc, five-interval model.</a:t>
            </a:r>
            <a:endParaRPr b="0" lang="en-US" sz="15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68000" y="2930400"/>
            <a:ext cx="180000" cy="277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66000" y="2916000"/>
            <a:ext cx="10674000" cy="482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50" spc="-1" strike="noStrike">
                <a:solidFill>
                  <a:srgbClr val="17212b"/>
                </a:solidFill>
                <a:latin typeface="Arial"/>
              </a:rPr>
              <a:t>Synchronized all physical intervals so the limb assumes one curve during motion.</a:t>
            </a:r>
            <a:endParaRPr b="0" lang="en-US" sz="15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68000" y="3416400"/>
            <a:ext cx="180000" cy="277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66000" y="3402000"/>
            <a:ext cx="10674000" cy="482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50" spc="-1" strike="noStrike">
                <a:solidFill>
                  <a:srgbClr val="17212b"/>
                </a:solidFill>
                <a:latin typeface="Arial"/>
              </a:rPr>
              <a:t>Added torque-commanded admittance while preserving position-control operation.</a:t>
            </a:r>
            <a:endParaRPr b="0" lang="en-US" sz="15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68000" y="3902400"/>
            <a:ext cx="180000" cy="277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66000" y="3888000"/>
            <a:ext cx="10674000" cy="482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50" spc="-1" strike="noStrike">
                <a:solidFill>
                  <a:srgbClr val="17212b"/>
                </a:solidFill>
                <a:latin typeface="Arial"/>
              </a:rPr>
              <a:t>Added two rings of three pose-derived virtual strain gauges and bridge voltages.</a:t>
            </a:r>
            <a:endParaRPr b="0" lang="en-US" sz="15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68000" y="4388400"/>
            <a:ext cx="180000" cy="277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66000" y="4374000"/>
            <a:ext cx="10674000" cy="482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50" spc="-1" strike="noStrike">
                <a:solidFill>
                  <a:srgbClr val="17212b"/>
                </a:solidFill>
                <a:latin typeface="Arial"/>
              </a:rPr>
              <a:t>Published robot_description and joint states for sensor-driven RViz visualization.</a:t>
            </a:r>
            <a:endParaRPr b="0" lang="en-US" sz="15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68000" y="4874400"/>
            <a:ext cx="180000" cy="277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66000" y="4860000"/>
            <a:ext cx="10674000" cy="482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50" spc="-1" strike="noStrike">
                <a:solidFill>
                  <a:srgbClr val="17212b"/>
                </a:solidFill>
                <a:latin typeface="Arial"/>
              </a:rPr>
              <a:t>Added reproducible regression tests and a continuously updated research record.</a:t>
            </a:r>
            <a:endParaRPr b="0" lang="en-US" sz="1550" spc="-1" strike="noStrike">
              <a:solidFill>
                <a:srgbClr val="17212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90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91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Current Six-Disc Working Architecture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SIMULATION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03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414000" y="1570680"/>
            <a:ext cx="6264000" cy="391500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 txBox="1"/>
          <p:nvPr/>
        </p:nvSpPr>
        <p:spPr>
          <a:xfrm>
            <a:off x="6912000" y="972000"/>
            <a:ext cx="4140000" cy="342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500000"/>
                </a:solidFill>
                <a:latin typeface="Arial"/>
              </a:rPr>
              <a:t>Working configuration</a:t>
            </a:r>
            <a:endParaRPr b="1" lang="en-US" sz="18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876000" y="1382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074000" y="1368000"/>
            <a:ext cx="4230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Six physical discs: Disk_00 through Disk_05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876000" y="1904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074000" y="1890000"/>
            <a:ext cx="4230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Five physical bending intervals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876000" y="2426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074000" y="2412000"/>
            <a:ext cx="4230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Hanging base with active gravity compensation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876000" y="2948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7074000" y="2934000"/>
            <a:ext cx="4230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Direct runtime D6 joint per interval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876000" y="3470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074000" y="3456000"/>
            <a:ext cx="4230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240 Hz physics and 60 Hz rendering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876000" y="3992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074000" y="3978000"/>
            <a:ext cx="4230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Overdamped position drives: stiffness 6400, damping 240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876000" y="4514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074000" y="4500000"/>
            <a:ext cx="4230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Twist locked; bend direction controlled by θ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912000" y="5508000"/>
            <a:ext cx="4140000" cy="28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Captured from the current Isaac Sim working launch.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114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115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From Position Control to Hybrid Torque Control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CONTROL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04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360000" y="1296360"/>
            <a:ext cx="6912000" cy="377928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 txBox="1"/>
          <p:nvPr/>
        </p:nvSpPr>
        <p:spPr>
          <a:xfrm>
            <a:off x="7560000" y="990000"/>
            <a:ext cx="3780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500000"/>
                </a:solidFill>
                <a:latin typeface="Arial"/>
              </a:rPr>
              <a:t>Implemented control law</a:t>
            </a:r>
            <a:endParaRPr b="1" lang="en-US" sz="17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560000" y="1296000"/>
            <a:ext cx="3780000" cy="37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000" spc="-1" strike="noStrike">
                <a:solidFill>
                  <a:srgbClr val="17212b"/>
                </a:solidFill>
                <a:latin typeface="Arial"/>
              </a:rPr>
              <a:t>φeq = 180° · τc / 1.0 N·m</a:t>
            </a:r>
            <a:endParaRPr b="1" lang="en-US" sz="20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560000" y="1814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758000" y="1800000"/>
            <a:ext cx="361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0.1 N·m → 18°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560000" y="2336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7758000" y="2322000"/>
            <a:ext cx="361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0.5 N·m → 90°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560000" y="2858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758000" y="2844000"/>
            <a:ext cx="361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1.0 N·m → 180°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560000" y="3380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758000" y="3366000"/>
            <a:ext cx="361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Commands beyond ±1.0 N·m are clipped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560000" y="3902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758000" y="3888000"/>
            <a:ext cx="361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2.0 N·m/s command slew limit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560000" y="4424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7758000" y="4410000"/>
            <a:ext cx="361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Position commands are ignored while nonzero torque is active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560000" y="5094000"/>
            <a:ext cx="3780000" cy="55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00" spc="-1" strike="noStrike">
                <a:solidFill>
                  <a:srgbClr val="b63a3a"/>
                </a:solidFill>
                <a:latin typeface="Arial"/>
              </a:rPr>
              <a:t>This is calibrated torque-commanded admittance—not raw open-loop torque and not a physical moment–curvature calibration.</a:t>
            </a:r>
            <a:endParaRPr b="1" lang="en-US" sz="1100" spc="-1" strike="noStrike">
              <a:solidFill>
                <a:srgbClr val="b63a3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137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138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Constant-Curvature Motion Is Enforced Across the Limb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VALIDATION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05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378000" y="1642320"/>
            <a:ext cx="5400000" cy="337500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5976000" y="1184400"/>
            <a:ext cx="5544000" cy="3031200"/>
          </a:xfrm>
          <a:prstGeom prst="rect">
            <a:avLst/>
          </a:prstGeom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6156000" y="4680000"/>
            <a:ext cx="2520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146" name=""/>
          <p:cNvSpPr/>
          <p:nvPr/>
        </p:nvSpPr>
        <p:spPr>
          <a:xfrm>
            <a:off x="6156000" y="4680000"/>
            <a:ext cx="57600" cy="810000"/>
          </a:xfrm>
          <a:prstGeom prst="rect">
            <a:avLst/>
          </a:prstGeom>
          <a:solidFill>
            <a:srgbClr val="167d8d"/>
          </a:solidFill>
          <a:ln w="7200">
            <a:solidFill>
              <a:srgbClr val="167d8d"/>
            </a:solidFill>
            <a:round/>
          </a:ln>
        </p:spPr>
      </p:sp>
      <p:sp>
        <p:nvSpPr>
          <p:cNvPr id="147" name=""/>
          <p:cNvSpPr txBox="1"/>
          <p:nvPr/>
        </p:nvSpPr>
        <p:spPr>
          <a:xfrm>
            <a:off x="6318000" y="4780800"/>
            <a:ext cx="2286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167d8d"/>
                </a:solidFill>
                <a:latin typeface="Arial"/>
              </a:rPr>
              <a:t>≈</a:t>
            </a:r>
            <a:r>
              <a:rPr b="1" lang="en-US" sz="2300" spc="-1" strike="noStrike">
                <a:solidFill>
                  <a:srgbClr val="167d8d"/>
                </a:solidFill>
                <a:latin typeface="Arial"/>
              </a:rPr>
              <a:t>36° each</a:t>
            </a:r>
            <a:endParaRPr b="1" lang="en-US" sz="2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318000" y="5104800"/>
            <a:ext cx="2286000" cy="3826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Five local rotations at the 180° endpoint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892000" y="4680000"/>
            <a:ext cx="2520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150" name=""/>
          <p:cNvSpPr/>
          <p:nvPr/>
        </p:nvSpPr>
        <p:spPr>
          <a:xfrm>
            <a:off x="8892000" y="4680000"/>
            <a:ext cx="57600" cy="810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151" name=""/>
          <p:cNvSpPr txBox="1"/>
          <p:nvPr/>
        </p:nvSpPr>
        <p:spPr>
          <a:xfrm>
            <a:off x="9054000" y="4780800"/>
            <a:ext cx="2286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500000"/>
                </a:solidFill>
                <a:latin typeface="Arial"/>
              </a:rPr>
              <a:t>0.0001°</a:t>
            </a:r>
            <a:endParaRPr b="1" lang="en-US" sz="23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9054000" y="5104800"/>
            <a:ext cx="2286000" cy="3826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Measured torque-mapping tracking error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048000" y="5652000"/>
            <a:ext cx="5328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44515e"/>
                </a:solidFill>
                <a:latin typeface="Arial"/>
              </a:rPr>
              <a:t>The controller distributes one total bend uniformly; synchronized target slew prevents the former segment-by-segment transient.</a:t>
            </a:r>
            <a:endParaRPr b="0" lang="en-US" sz="1250" spc="-1" strike="noStrike">
              <a:solidFill>
                <a:srgbClr val="44515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155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156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Six Virtual Strain Gauges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SENSING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06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360000" y="1175040"/>
            <a:ext cx="6084000" cy="3409920"/>
          </a:xfrm>
          <a:prstGeom prst="rect">
            <a:avLst/>
          </a:prstGeom>
          <a:ln w="0">
            <a:noFill/>
          </a:ln>
        </p:spPr>
      </p:pic>
      <p:sp>
        <p:nvSpPr>
          <p:cNvPr id="162" name=""/>
          <p:cNvSpPr txBox="1"/>
          <p:nvPr/>
        </p:nvSpPr>
        <p:spPr>
          <a:xfrm>
            <a:off x="6732000" y="936000"/>
            <a:ext cx="2160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500000"/>
                </a:solidFill>
                <a:latin typeface="Arial"/>
              </a:rPr>
              <a:t>Placement</a:t>
            </a:r>
            <a:endParaRPr b="1" lang="en-US" sz="17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732000" y="1292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930000" y="1278000"/>
            <a:ext cx="448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Ring 1 at one-third length: 0°, 120°, 240°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732000" y="1796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930000" y="1782000"/>
            <a:ext cx="448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Ring 2 at two-thirds length: 180°, 300°, 60°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732000" y="2300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930000" y="2286000"/>
            <a:ext cx="448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Second ring uses the requested 180° set offset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732000" y="2804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6930000" y="2790000"/>
            <a:ext cx="4482000" cy="501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Readings derive from live disc poses—even during manual dragging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732000" y="3492000"/>
            <a:ext cx="3780000" cy="31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500000"/>
                </a:solidFill>
                <a:latin typeface="Arial"/>
              </a:rPr>
              <a:t>Implemented surface-strain model</a:t>
            </a:r>
            <a:endParaRPr b="1" lang="en-US" sz="16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732000" y="3798000"/>
            <a:ext cx="4428000" cy="342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1800" spc="-1" strike="noStrike">
                <a:solidFill>
                  <a:srgbClr val="17212b"/>
                </a:solidFill>
                <a:latin typeface="Arial"/>
              </a:rPr>
              <a:t>ε(α) = r [−κx sin(α) + κy cos(α)]</a:t>
            </a:r>
            <a:endParaRPr b="1" lang="en-US" sz="18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732000" y="4410000"/>
            <a:ext cx="4500000" cy="752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50" spc="-1" strike="noStrike">
                <a:solidFill>
                  <a:srgbClr val="b63a3a"/>
                </a:solidFill>
                <a:latin typeface="Arial"/>
              </a:rPr>
              <a:t>The readings are kinematic, pose-derived estimates. Physical gauge bonding, material hysteresis, temperature drift, and calibration remain future work.</a:t>
            </a:r>
            <a:endParaRPr b="1" lang="en-US" sz="1150" spc="-1" strike="noStrike">
              <a:solidFill>
                <a:srgbClr val="b63a3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175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176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Live Six-Channel Strain Response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RESULTS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07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360000" y="1058400"/>
            <a:ext cx="8640000" cy="4579200"/>
          </a:xfrm>
          <a:prstGeom prst="rect">
            <a:avLst/>
          </a:prstGeom>
          <a:ln w="0">
            <a:noFill/>
          </a:ln>
        </p:spPr>
      </p:pic>
      <p:sp>
        <p:nvSpPr>
          <p:cNvPr id="182" name=""/>
          <p:cNvSpPr txBox="1"/>
          <p:nvPr/>
        </p:nvSpPr>
        <p:spPr>
          <a:xfrm>
            <a:off x="9252000" y="1008000"/>
            <a:ext cx="2160000" cy="31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500000"/>
                </a:solidFill>
                <a:latin typeface="Arial"/>
              </a:rPr>
              <a:t>Acquisition</a:t>
            </a:r>
            <a:endParaRPr b="1" lang="en-US" sz="16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180000" y="1346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9378000" y="1332000"/>
            <a:ext cx="2178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Captured from live ROS topics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180000" y="1940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9378000" y="1926000"/>
            <a:ext cx="2178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Torque stepped through 0, 0.5, and 1.0 N·m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9180000" y="2534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9378000" y="2520000"/>
            <a:ext cx="2178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Two stations × three circumferential gauges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9180000" y="3128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9378000" y="3114000"/>
            <a:ext cx="2178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Opposing signs distinguish tension and compression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9180000" y="3722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9378000" y="3708000"/>
            <a:ext cx="2178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Signals remain available without a control command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9216000" y="4860000"/>
            <a:ext cx="2232000" cy="536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b63a3a"/>
                </a:solidFill>
                <a:latin typeface="Arial"/>
              </a:rPr>
              <a:t>Simulated, pose-derived strain; not yet hardware validated.</a:t>
            </a:r>
            <a:endParaRPr b="1" lang="en-US" sz="1050" spc="-1" strike="noStrike">
              <a:solidFill>
                <a:srgbClr val="b63a3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195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196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Wheatstone-Bridge Voltage Layer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INSTRUMENTATION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08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360000" y="1058400"/>
            <a:ext cx="8640000" cy="4579200"/>
          </a:xfrm>
          <a:prstGeom prst="rect">
            <a:avLst/>
          </a:prstGeom>
          <a:ln w="0">
            <a:noFill/>
          </a:ln>
        </p:spPr>
      </p:pic>
      <p:sp>
        <p:nvSpPr>
          <p:cNvPr id="202" name=""/>
          <p:cNvSpPr txBox="1"/>
          <p:nvPr/>
        </p:nvSpPr>
        <p:spPr>
          <a:xfrm>
            <a:off x="9216000" y="954000"/>
            <a:ext cx="2196000" cy="286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400" spc="-1" strike="noStrike">
                <a:solidFill>
                  <a:srgbClr val="500000"/>
                </a:solidFill>
                <a:latin typeface="Arial"/>
              </a:rPr>
              <a:t>Nominal bridge model</a:t>
            </a:r>
            <a:endParaRPr b="1" lang="en-US" sz="1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9180000" y="1364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9378000" y="1350000"/>
            <a:ext cx="217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350 Ω foil gauge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9180000" y="1886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9378000" y="1872000"/>
            <a:ext cx="217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Gauge factor GF = 2.0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9180000" y="2408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9378000" y="2394000"/>
            <a:ext cx="217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Quarter-bridge topology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9180000" y="2930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9378000" y="2916000"/>
            <a:ext cx="217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Excitation Vexc = 2.5 V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9180000" y="3452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378000" y="3438000"/>
            <a:ext cx="2178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Validity flags on separate ROS topics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9180000" y="3974400"/>
            <a:ext cx="180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0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9378000" y="3960000"/>
            <a:ext cx="2178000" cy="617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50" spc="-1" strike="noStrike">
                <a:solidFill>
                  <a:srgbClr val="17212b"/>
                </a:solidFill>
                <a:latin typeface="Arial"/>
              </a:rPr>
              <a:t>Non-finite model regions displayed at a marked 1.25 V boundary</a:t>
            </a:r>
            <a:endParaRPr b="0" lang="en-US" sz="12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9216000" y="4752000"/>
            <a:ext cx="2232000" cy="716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50" spc="-1" strike="noStrike">
                <a:solidFill>
                  <a:srgbClr val="b63a3a"/>
                </a:solidFill>
                <a:latin typeface="Arial"/>
              </a:rPr>
              <a:t>The voltage layer supports DAQ planning; it does not establish a purchased sensor’s survivability or experimental accuracy.</a:t>
            </a:r>
            <a:endParaRPr b="1" lang="en-US" sz="1050" spc="-1" strike="noStrike">
              <a:solidFill>
                <a:srgbClr val="b63a3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217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218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ROS 2 and RViz Visualization Pipeline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INTEGRATION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09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68000" y="2232000"/>
            <a:ext cx="1728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500000"/>
            </a:solidFill>
            <a:round/>
          </a:ln>
        </p:spPr>
      </p:sp>
      <p:sp>
        <p:nvSpPr>
          <p:cNvPr id="224" name=""/>
          <p:cNvSpPr txBox="1"/>
          <p:nvPr/>
        </p:nvSpPr>
        <p:spPr>
          <a:xfrm>
            <a:off x="540000" y="2448000"/>
            <a:ext cx="1584000" cy="60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1500" spc="-1" strike="noStrike">
                <a:solidFill>
                  <a:srgbClr val="500000"/>
                </a:solidFill>
                <a:latin typeface="Arial"/>
              </a:rPr>
              <a:t>Isaac Sim</a:t>
            </a:r>
            <a:endParaRPr b="1" lang="en-US" sz="1500" spc="-1" strike="noStrike">
              <a:solidFill>
                <a:srgbClr val="500000"/>
              </a:solidFill>
              <a:latin typeface="Arial"/>
            </a:endParaRPr>
          </a:p>
          <a:p>
            <a:pPr algn="r">
              <a:buNone/>
            </a:pPr>
            <a:r>
              <a:rPr b="1" lang="en-US" sz="1500" spc="-1" strike="noStrike">
                <a:solidFill>
                  <a:srgbClr val="500000"/>
                </a:solidFill>
                <a:latin typeface="Arial"/>
              </a:rPr>
              <a:t>six-disc limb</a:t>
            </a:r>
            <a:endParaRPr b="1" lang="en-US" sz="15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2844000" y="2232000"/>
            <a:ext cx="1728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167d8d"/>
            </a:solidFill>
            <a:round/>
          </a:ln>
        </p:spPr>
      </p:sp>
      <p:sp>
        <p:nvSpPr>
          <p:cNvPr id="226" name=""/>
          <p:cNvSpPr txBox="1"/>
          <p:nvPr/>
        </p:nvSpPr>
        <p:spPr>
          <a:xfrm>
            <a:off x="2916000" y="2448000"/>
            <a:ext cx="1584000" cy="60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1500" spc="-1" strike="noStrike">
                <a:solidFill>
                  <a:srgbClr val="167d8d"/>
                </a:solidFill>
                <a:latin typeface="Arial"/>
              </a:rPr>
              <a:t>Live disc poses</a:t>
            </a:r>
            <a:endParaRPr b="1" lang="en-US" sz="1500" spc="-1" strike="noStrike">
              <a:solidFill>
                <a:srgbClr val="167d8d"/>
              </a:solidFill>
              <a:latin typeface="Arial"/>
            </a:endParaRPr>
          </a:p>
          <a:p>
            <a:pPr algn="r">
              <a:buNone/>
            </a:pPr>
            <a:r>
              <a:rPr b="1" lang="en-US" sz="1500" spc="-1" strike="noStrike">
                <a:solidFill>
                  <a:srgbClr val="167d8d"/>
                </a:solidFill>
                <a:latin typeface="Arial"/>
              </a:rPr>
              <a:t>and commands</a:t>
            </a:r>
            <a:endParaRPr b="1" lang="en-US" sz="15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5220000" y="2232000"/>
            <a:ext cx="1728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6a84b"/>
            </a:solidFill>
            <a:round/>
          </a:ln>
        </p:spPr>
      </p:sp>
      <p:sp>
        <p:nvSpPr>
          <p:cNvPr id="228" name=""/>
          <p:cNvSpPr txBox="1"/>
          <p:nvPr/>
        </p:nvSpPr>
        <p:spPr>
          <a:xfrm>
            <a:off x="5292000" y="2448000"/>
            <a:ext cx="1584000" cy="60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1500" spc="-1" strike="noStrike">
                <a:solidFill>
                  <a:srgbClr val="d6a84b"/>
                </a:solidFill>
                <a:latin typeface="Arial"/>
              </a:rPr>
              <a:t>Six strain +</a:t>
            </a:r>
            <a:endParaRPr b="1" lang="en-US" sz="1500" spc="-1" strike="noStrike">
              <a:solidFill>
                <a:srgbClr val="d6a84b"/>
              </a:solidFill>
              <a:latin typeface="Arial"/>
            </a:endParaRPr>
          </a:p>
          <a:p>
            <a:pPr algn="r">
              <a:buNone/>
            </a:pPr>
            <a:r>
              <a:rPr b="1" lang="en-US" sz="1500" spc="-1" strike="noStrike">
                <a:solidFill>
                  <a:srgbClr val="d6a84b"/>
                </a:solidFill>
                <a:latin typeface="Arial"/>
              </a:rPr>
              <a:t>bridge channels</a:t>
            </a:r>
            <a:endParaRPr b="1" lang="en-US" sz="1500" spc="-1" strike="noStrike">
              <a:solidFill>
                <a:srgbClr val="d6a84b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7596000" y="2232000"/>
            <a:ext cx="1728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167d8d"/>
            </a:solidFill>
            <a:round/>
          </a:ln>
        </p:spPr>
      </p:sp>
      <p:sp>
        <p:nvSpPr>
          <p:cNvPr id="230" name=""/>
          <p:cNvSpPr txBox="1"/>
          <p:nvPr/>
        </p:nvSpPr>
        <p:spPr>
          <a:xfrm>
            <a:off x="7668000" y="2448000"/>
            <a:ext cx="1584000" cy="60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1500" spc="-1" strike="noStrike">
                <a:solidFill>
                  <a:srgbClr val="167d8d"/>
                </a:solidFill>
                <a:latin typeface="Arial"/>
              </a:rPr>
              <a:t>Shape</a:t>
            </a:r>
            <a:endParaRPr b="1" lang="en-US" sz="1500" spc="-1" strike="noStrike">
              <a:solidFill>
                <a:srgbClr val="167d8d"/>
              </a:solidFill>
              <a:latin typeface="Arial"/>
            </a:endParaRPr>
          </a:p>
          <a:p>
            <a:pPr algn="r">
              <a:buNone/>
            </a:pPr>
            <a:r>
              <a:rPr b="1" lang="en-US" sz="1500" spc="-1" strike="noStrike">
                <a:solidFill>
                  <a:srgbClr val="167d8d"/>
                </a:solidFill>
                <a:latin typeface="Arial"/>
              </a:rPr>
              <a:t>reconstruction</a:t>
            </a:r>
            <a:endParaRPr b="1" lang="en-US" sz="15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9972000" y="2232000"/>
            <a:ext cx="1728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500000"/>
            </a:solidFill>
            <a:round/>
          </a:ln>
        </p:spPr>
      </p:sp>
      <p:sp>
        <p:nvSpPr>
          <p:cNvPr id="232" name=""/>
          <p:cNvSpPr txBox="1"/>
          <p:nvPr/>
        </p:nvSpPr>
        <p:spPr>
          <a:xfrm>
            <a:off x="10044000" y="2448000"/>
            <a:ext cx="1584000" cy="7218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1500" spc="-1" strike="noStrike">
                <a:solidFill>
                  <a:srgbClr val="500000"/>
                </a:solidFill>
                <a:latin typeface="Arial"/>
              </a:rPr>
              <a:t>RViz RobotModel</a:t>
            </a:r>
            <a:endParaRPr b="1" lang="en-US" sz="1500" spc="-1" strike="noStrike">
              <a:solidFill>
                <a:srgbClr val="500000"/>
              </a:solidFill>
              <a:latin typeface="Arial"/>
            </a:endParaRPr>
          </a:p>
          <a:p>
            <a:pPr algn="r">
              <a:buNone/>
            </a:pPr>
            <a:r>
              <a:rPr b="1" lang="en-US" sz="1500" spc="-1" strike="noStrike">
                <a:solidFill>
                  <a:srgbClr val="500000"/>
                </a:solidFill>
                <a:latin typeface="Arial"/>
              </a:rPr>
              <a:t>and TF</a:t>
            </a:r>
            <a:endParaRPr b="1" lang="en-US" sz="15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2250000" y="2520000"/>
            <a:ext cx="468000" cy="483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800" spc="-1" strike="noStrike">
                <a:solidFill>
                  <a:srgbClr val="44515e"/>
                </a:solidFill>
                <a:latin typeface="Arial"/>
              </a:rPr>
              <a:t>→</a:t>
            </a:r>
            <a:endParaRPr b="1" lang="en-US" sz="2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626000" y="2520000"/>
            <a:ext cx="468000" cy="483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800" spc="-1" strike="noStrike">
                <a:solidFill>
                  <a:srgbClr val="44515e"/>
                </a:solidFill>
                <a:latin typeface="Arial"/>
              </a:rPr>
              <a:t>→</a:t>
            </a:r>
            <a:endParaRPr b="1" lang="en-US" sz="2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002000" y="2520000"/>
            <a:ext cx="468000" cy="483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800" spc="-1" strike="noStrike">
                <a:solidFill>
                  <a:srgbClr val="44515e"/>
                </a:solidFill>
                <a:latin typeface="Arial"/>
              </a:rPr>
              <a:t>→</a:t>
            </a:r>
            <a:endParaRPr b="1" lang="en-US" sz="2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9378000" y="2520000"/>
            <a:ext cx="468000" cy="483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800" spc="-1" strike="noStrike">
                <a:solidFill>
                  <a:srgbClr val="44515e"/>
                </a:solidFill>
                <a:latin typeface="Arial"/>
              </a:rPr>
              <a:t>→</a:t>
            </a:r>
            <a:endParaRPr b="1" lang="en-US" sz="2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80000" y="4046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278000" y="4032000"/>
            <a:ext cx="9702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robot_description is published at simulator launch.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080000" y="4568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278000" y="4554000"/>
            <a:ext cx="9702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Joint states reconstruct the sensed limb rather than displaying a second physical Isaac limb.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080000" y="5090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278000" y="5076000"/>
            <a:ext cx="9702000" cy="51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A static map → soft_limb_disk_00 transform supplies the RViz fixed frame.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244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245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Verification Summary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EVIDENCE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10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32000" y="972000"/>
            <a:ext cx="2592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251" name=""/>
          <p:cNvSpPr/>
          <p:nvPr/>
        </p:nvSpPr>
        <p:spPr>
          <a:xfrm>
            <a:off x="432000" y="972000"/>
            <a:ext cx="57600" cy="810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252" name=""/>
          <p:cNvSpPr txBox="1"/>
          <p:nvPr/>
        </p:nvSpPr>
        <p:spPr>
          <a:xfrm>
            <a:off x="594000" y="1072800"/>
            <a:ext cx="2358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500000"/>
                </a:solidFill>
                <a:latin typeface="Arial"/>
              </a:rPr>
              <a:t>179.9999°</a:t>
            </a:r>
            <a:endParaRPr b="1" lang="en-US" sz="23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94000" y="1396800"/>
            <a:ext cx="2358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1.0 N·m endpoint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3222000" y="972000"/>
            <a:ext cx="2592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255" name=""/>
          <p:cNvSpPr/>
          <p:nvPr/>
        </p:nvSpPr>
        <p:spPr>
          <a:xfrm>
            <a:off x="3222000" y="972000"/>
            <a:ext cx="57600" cy="810000"/>
          </a:xfrm>
          <a:prstGeom prst="rect">
            <a:avLst/>
          </a:prstGeom>
          <a:solidFill>
            <a:srgbClr val="3e8e62"/>
          </a:solidFill>
          <a:ln w="7200">
            <a:solidFill>
              <a:srgbClr val="3e8e62"/>
            </a:solidFill>
            <a:round/>
          </a:ln>
        </p:spPr>
      </p:sp>
      <p:sp>
        <p:nvSpPr>
          <p:cNvPr id="256" name=""/>
          <p:cNvSpPr txBox="1"/>
          <p:nvPr/>
        </p:nvSpPr>
        <p:spPr>
          <a:xfrm>
            <a:off x="3384000" y="1072800"/>
            <a:ext cx="2358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3e8e62"/>
                </a:solidFill>
                <a:latin typeface="Arial"/>
              </a:rPr>
              <a:t>PASS</a:t>
            </a:r>
            <a:endParaRPr b="1" lang="en-US" sz="2300" spc="-1" strike="noStrike">
              <a:solidFill>
                <a:srgbClr val="3e8e62"/>
              </a:solidFill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384000" y="1396800"/>
            <a:ext cx="2358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1.5 N·m request clipped to 1.0 N·m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6012000" y="972000"/>
            <a:ext cx="2592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259" name=""/>
          <p:cNvSpPr/>
          <p:nvPr/>
        </p:nvSpPr>
        <p:spPr>
          <a:xfrm>
            <a:off x="6012000" y="972000"/>
            <a:ext cx="57600" cy="810000"/>
          </a:xfrm>
          <a:prstGeom prst="rect">
            <a:avLst/>
          </a:prstGeom>
          <a:solidFill>
            <a:srgbClr val="167d8d"/>
          </a:solidFill>
          <a:ln w="7200">
            <a:solidFill>
              <a:srgbClr val="167d8d"/>
            </a:solidFill>
            <a:round/>
          </a:ln>
        </p:spPr>
      </p:sp>
      <p:sp>
        <p:nvSpPr>
          <p:cNvPr id="260" name=""/>
          <p:cNvSpPr txBox="1"/>
          <p:nvPr/>
        </p:nvSpPr>
        <p:spPr>
          <a:xfrm>
            <a:off x="6174000" y="1072800"/>
            <a:ext cx="2358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167d8d"/>
                </a:solidFill>
                <a:latin typeface="Arial"/>
              </a:rPr>
              <a:t>≈</a:t>
            </a:r>
            <a:r>
              <a:rPr b="1" lang="en-US" sz="2300" spc="-1" strike="noStrike">
                <a:solidFill>
                  <a:srgbClr val="167d8d"/>
                </a:solidFill>
                <a:latin typeface="Arial"/>
              </a:rPr>
              <a:t>36°</a:t>
            </a:r>
            <a:endParaRPr b="1" lang="en-US" sz="2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174000" y="1396800"/>
            <a:ext cx="2358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Every physical interval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8802000" y="972000"/>
            <a:ext cx="2592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263" name=""/>
          <p:cNvSpPr/>
          <p:nvPr/>
        </p:nvSpPr>
        <p:spPr>
          <a:xfrm>
            <a:off x="8802000" y="972000"/>
            <a:ext cx="57600" cy="810000"/>
          </a:xfrm>
          <a:prstGeom prst="rect">
            <a:avLst/>
          </a:prstGeom>
          <a:solidFill>
            <a:srgbClr val="d6a84b"/>
          </a:solidFill>
          <a:ln w="7200">
            <a:solidFill>
              <a:srgbClr val="d6a84b"/>
            </a:solidFill>
            <a:round/>
          </a:ln>
        </p:spPr>
      </p:sp>
      <p:sp>
        <p:nvSpPr>
          <p:cNvPr id="264" name=""/>
          <p:cNvSpPr txBox="1"/>
          <p:nvPr/>
        </p:nvSpPr>
        <p:spPr>
          <a:xfrm>
            <a:off x="8964000" y="1072800"/>
            <a:ext cx="2358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d6a84b"/>
                </a:solidFill>
                <a:latin typeface="Arial"/>
              </a:rPr>
              <a:t>0.0001°</a:t>
            </a:r>
            <a:endParaRPr b="1" lang="en-US" sz="2300" spc="-1" strike="noStrike">
              <a:solidFill>
                <a:srgbClr val="d6a84b"/>
              </a:solidFill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8964000" y="1396800"/>
            <a:ext cx="2358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Torque mapping error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468000" y="2160000"/>
            <a:ext cx="4140000" cy="342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500000"/>
                </a:solidFill>
                <a:latin typeface="Arial"/>
              </a:rPr>
              <a:t>Additional verified behavior</a:t>
            </a:r>
            <a:endParaRPr b="1" lang="en-US" sz="18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468000" y="2534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66000" y="2520000"/>
            <a:ext cx="6642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Position control still reaches the 180° endpoint.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468000" y="3128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66000" y="3114000"/>
            <a:ext cx="6642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First-step X/Y targets are identical across all five physical intervals.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68000" y="3722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66000" y="3708000"/>
            <a:ext cx="6642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The sixth disc is treated as the final disc—not as a midpoint from the old twelve-disc model.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68000" y="4316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666000" y="4302000"/>
            <a:ext cx="6642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Syntax, topology, bridge-model, ROS build, Isaac regression, and LaTeX builds pass.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7704000" y="2160000"/>
            <a:ext cx="3708000" cy="298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276" name=""/>
          <p:cNvSpPr txBox="1"/>
          <p:nvPr/>
        </p:nvSpPr>
        <p:spPr>
          <a:xfrm>
            <a:off x="7920000" y="2358000"/>
            <a:ext cx="3240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500000"/>
                </a:solidFill>
                <a:latin typeface="Arial"/>
              </a:rPr>
              <a:t>Research interpretation</a:t>
            </a:r>
            <a:endParaRPr b="1" lang="en-US" sz="17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920000" y="2754000"/>
            <a:ext cx="3240000" cy="1688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00" spc="-1" strike="noStrike">
                <a:solidFill>
                  <a:srgbClr val="17212b"/>
                </a:solidFill>
                <a:latin typeface="Arial"/>
              </a:rPr>
              <a:t>These results validate the implemented software mapping in unloaded, single-axis simulation. They do not yet validate material behavior, payload response, physical torque requirements, or real strain gauges.</a:t>
            </a:r>
            <a:endParaRPr b="0" lang="en-US" sz="1400" spc="-1" strike="noStrike">
              <a:solidFill>
                <a:srgbClr val="17212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279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280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What Changed in the Latest Iteration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LATEST UPDATE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11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04000" y="1080000"/>
            <a:ext cx="4860000" cy="3549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900" spc="-1" strike="noStrike">
                <a:solidFill>
                  <a:srgbClr val="44515e"/>
                </a:solidFill>
                <a:latin typeface="Arial"/>
              </a:rPr>
              <a:t>Previous development state</a:t>
            </a:r>
            <a:endParaRPr b="1" lang="en-US" sz="19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468000" y="1440000"/>
            <a:ext cx="5256000" cy="316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287" name=""/>
          <p:cNvSpPr txBox="1"/>
          <p:nvPr/>
        </p:nvSpPr>
        <p:spPr>
          <a:xfrm>
            <a:off x="720000" y="17424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918000" y="1728000"/>
            <a:ext cx="4482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Torque range temporarily extended to 1.5 N·m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20000" y="23364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918000" y="2322000"/>
            <a:ext cx="4482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Accumulated bend measurement demonstrated 270°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20000" y="29304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918000" y="2916000"/>
            <a:ext cx="4482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Useful as historical topology evidence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20000" y="35244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918000" y="3510000"/>
            <a:ext cx="4482000" cy="59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Outside the intended active research range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6300000" y="1080000"/>
            <a:ext cx="4860000" cy="3549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900" spc="-1" strike="noStrike">
                <a:solidFill>
                  <a:srgbClr val="500000"/>
                </a:solidFill>
                <a:latin typeface="Arial"/>
              </a:rPr>
              <a:t>Current active working state</a:t>
            </a:r>
            <a:endParaRPr b="1" lang="en-US" sz="19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264000" y="1440000"/>
            <a:ext cx="5256000" cy="316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500000"/>
            </a:solidFill>
            <a:round/>
          </a:ln>
        </p:spPr>
      </p:sp>
      <p:sp>
        <p:nvSpPr>
          <p:cNvPr id="297" name=""/>
          <p:cNvSpPr txBox="1"/>
          <p:nvPr/>
        </p:nvSpPr>
        <p:spPr>
          <a:xfrm>
            <a:off x="6516000" y="17424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6714000" y="1728000"/>
            <a:ext cx="4482000" cy="543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Maximum bend restored to ±180°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6516000" y="22896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6714000" y="2275200"/>
            <a:ext cx="4482000" cy="543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Torque command capped at ±1.0 N·m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6516000" y="28368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6714000" y="2822400"/>
            <a:ext cx="4482000" cy="543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Over-limit commands clamp safely and visibly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6516000" y="33840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6714000" y="3369600"/>
            <a:ext cx="4482000" cy="543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Verifier checks requested vs. applied torque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516000" y="3931200"/>
            <a:ext cx="180000" cy="271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30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6714000" y="3916800"/>
            <a:ext cx="4482000" cy="543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500" spc="-1" strike="noStrike">
                <a:solidFill>
                  <a:srgbClr val="17212b"/>
                </a:solidFill>
                <a:latin typeface="Arial"/>
              </a:rPr>
              <a:t>README, validation log, and research document synchronized</a:t>
            </a:r>
            <a:endParaRPr b="0" lang="en-US" sz="15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440000" y="5130000"/>
            <a:ext cx="9360000" cy="538200"/>
          </a:xfrm>
          <a:prstGeom prst="rect">
            <a:avLst/>
          </a:prstGeom>
          <a:solidFill>
            <a:srgbClr val="500000"/>
          </a:solidFill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Decision: retain the 270° result only as historical pre-cap evidence; use 180° as the active experimental boundary.</a:t>
            </a:r>
            <a:endParaRPr b="1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309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310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Third Objective: Three Modules in Series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SOFT_3_WORKING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12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396000" y="846000"/>
            <a:ext cx="4932000" cy="4932000"/>
          </a:xfrm>
          <a:prstGeom prst="rect">
            <a:avLst/>
          </a:prstGeom>
          <a:ln w="0">
            <a:noFill/>
          </a:ln>
        </p:spPr>
      </p:pic>
      <p:sp>
        <p:nvSpPr>
          <p:cNvPr id="316" name=""/>
          <p:cNvSpPr txBox="1"/>
          <p:nvPr/>
        </p:nvSpPr>
        <p:spPr>
          <a:xfrm>
            <a:off x="5652000" y="918000"/>
            <a:ext cx="5328000" cy="3549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900" spc="-1" strike="noStrike">
                <a:solidFill>
                  <a:srgbClr val="500000"/>
                </a:solidFill>
                <a:latin typeface="Arial"/>
              </a:rPr>
              <a:t>soft_3_working architecture</a:t>
            </a:r>
            <a:endParaRPr b="1" lang="en-US" sz="19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5652000" y="1292400"/>
            <a:ext cx="180000" cy="245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2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2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5850000" y="1278000"/>
            <a:ext cx="5490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Three serial six-disc modules: 18 physical discs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652000" y="1760400"/>
            <a:ext cx="180000" cy="245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2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2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850000" y="1746000"/>
            <a:ext cx="5490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Five actuated intervals per module: 15 total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652000" y="2228400"/>
            <a:ext cx="180000" cy="245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2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2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850000" y="2214000"/>
            <a:ext cx="5490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Two fixed connectors transmit pose between modules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5652000" y="2696400"/>
            <a:ext cx="180000" cy="245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2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2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850000" y="2682000"/>
            <a:ext cx="5490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The first disc is fixed in air; the chain hangs under gravity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652000" y="3164400"/>
            <a:ext cx="180000" cy="245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2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2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5850000" y="3150000"/>
            <a:ext cx="5490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Three independent φ-torque commands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5652000" y="3632400"/>
            <a:ext cx="180000" cy="245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2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2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5850000" y="3618000"/>
            <a:ext cx="5490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Three independent θ bending directions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652000" y="4100400"/>
            <a:ext cx="180000" cy="245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2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2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5850000" y="4086000"/>
            <a:ext cx="5490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Same synchronized constant-curvature target inside every module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5652000" y="4568400"/>
            <a:ext cx="180000" cy="245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2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2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850000" y="4554000"/>
            <a:ext cx="5490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Source, launch, control, plotting, verification, and USD files use the soft_3_working name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5688000" y="5112000"/>
            <a:ext cx="5472000" cy="536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44515e"/>
                </a:solidFill>
                <a:latin typeface="Arial"/>
              </a:rPr>
              <a:t>Live Isaac Sim capture using the Grey Studio light rig; overlapping discs reflect the commanded compound three-dimensional pose.</a:t>
            </a:r>
            <a:endParaRPr b="0" lang="en-US" sz="1100" spc="-1" strike="noStrike">
              <a:solidFill>
                <a:srgbClr val="44515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335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336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Independent Three-Module Control: Verified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VALIDATION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13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432000" y="972000"/>
            <a:ext cx="3528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342" name=""/>
          <p:cNvSpPr/>
          <p:nvPr/>
        </p:nvSpPr>
        <p:spPr>
          <a:xfrm>
            <a:off x="432000" y="972000"/>
            <a:ext cx="57600" cy="810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343" name=""/>
          <p:cNvSpPr txBox="1"/>
          <p:nvPr/>
        </p:nvSpPr>
        <p:spPr>
          <a:xfrm>
            <a:off x="594000" y="1072800"/>
            <a:ext cx="3294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500000"/>
                </a:solidFill>
                <a:latin typeface="Arial"/>
              </a:rPr>
              <a:t>90.0047°</a:t>
            </a:r>
            <a:endParaRPr b="1" lang="en-US" sz="23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94000" y="1396800"/>
            <a:ext cx="3294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Module 1: 0.50 N·m, θ = 0°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4212000" y="972000"/>
            <a:ext cx="3528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346" name=""/>
          <p:cNvSpPr/>
          <p:nvPr/>
        </p:nvSpPr>
        <p:spPr>
          <a:xfrm>
            <a:off x="4212000" y="972000"/>
            <a:ext cx="57600" cy="810000"/>
          </a:xfrm>
          <a:prstGeom prst="rect">
            <a:avLst/>
          </a:prstGeom>
          <a:solidFill>
            <a:srgbClr val="167d8d"/>
          </a:solidFill>
          <a:ln w="7200">
            <a:solidFill>
              <a:srgbClr val="167d8d"/>
            </a:solidFill>
            <a:round/>
          </a:ln>
        </p:spPr>
      </p:sp>
      <p:sp>
        <p:nvSpPr>
          <p:cNvPr id="347" name=""/>
          <p:cNvSpPr txBox="1"/>
          <p:nvPr/>
        </p:nvSpPr>
        <p:spPr>
          <a:xfrm>
            <a:off x="4374000" y="1072800"/>
            <a:ext cx="3294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167d8d"/>
                </a:solidFill>
                <a:latin typeface="Arial"/>
              </a:rPr>
              <a:t>134.9999°</a:t>
            </a:r>
            <a:endParaRPr b="1" lang="en-US" sz="2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4374000" y="1396800"/>
            <a:ext cx="3294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Module 2: 0.75 N·m, θ = 90°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7992000" y="972000"/>
            <a:ext cx="3528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350" name=""/>
          <p:cNvSpPr/>
          <p:nvPr/>
        </p:nvSpPr>
        <p:spPr>
          <a:xfrm>
            <a:off x="7992000" y="972000"/>
            <a:ext cx="57600" cy="810000"/>
          </a:xfrm>
          <a:prstGeom prst="rect">
            <a:avLst/>
          </a:prstGeom>
          <a:solidFill>
            <a:srgbClr val="d6a84b"/>
          </a:solidFill>
          <a:ln w="7200">
            <a:solidFill>
              <a:srgbClr val="d6a84b"/>
            </a:solidFill>
            <a:round/>
          </a:ln>
        </p:spPr>
      </p:sp>
      <p:sp>
        <p:nvSpPr>
          <p:cNvPr id="351" name=""/>
          <p:cNvSpPr txBox="1"/>
          <p:nvPr/>
        </p:nvSpPr>
        <p:spPr>
          <a:xfrm>
            <a:off x="8154000" y="1072800"/>
            <a:ext cx="3294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d6a84b"/>
                </a:solidFill>
                <a:latin typeface="Arial"/>
              </a:rPr>
              <a:t>179.9999°</a:t>
            </a:r>
            <a:endParaRPr b="1" lang="en-US" sz="2300" spc="-1" strike="noStrike">
              <a:solidFill>
                <a:srgbClr val="d6a84b"/>
              </a:solidFill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8154000" y="1396800"/>
            <a:ext cx="3294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Module 3: 1.00 N·m, θ = −90°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04000" y="2178000"/>
            <a:ext cx="4680000" cy="342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500000"/>
                </a:solidFill>
                <a:latin typeface="Arial"/>
              </a:rPr>
              <a:t>12-second headless regression</a:t>
            </a:r>
            <a:endParaRPr b="1" lang="en-US" sz="18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04000" y="2588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02000" y="2574000"/>
            <a:ext cx="7002000" cy="55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All five first-step interval targets matched within each module.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504000" y="3146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02000" y="3132000"/>
            <a:ext cx="7002000" cy="55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Final-second ranges: 0.0001642°, 0.0000568°, 0.0000713°.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504000" y="3704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02000" y="3690000"/>
            <a:ext cx="7002000" cy="55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Connector residual bends: 0.0000672° and 0.0000394°.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04000" y="4262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02000" y="4248000"/>
            <a:ext cx="7002000" cy="55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Detected all 18 gauge publishers.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04000" y="4820400"/>
            <a:ext cx="180000" cy="263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2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702000" y="4806000"/>
            <a:ext cx="7002000" cy="55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50" spc="-1" strike="noStrike">
                <a:solidFill>
                  <a:srgbClr val="17212b"/>
                </a:solidFill>
                <a:latin typeface="Arial"/>
              </a:rPr>
              <a:t>Overall verifier result: PASS.</a:t>
            </a:r>
            <a:endParaRPr b="0" lang="en-US" sz="14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8064000" y="2196000"/>
            <a:ext cx="3420000" cy="295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365" name=""/>
          <p:cNvSpPr txBox="1"/>
          <p:nvPr/>
        </p:nvSpPr>
        <p:spPr>
          <a:xfrm>
            <a:off x="8280000" y="2412000"/>
            <a:ext cx="2952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500000"/>
                </a:solidFill>
                <a:latin typeface="Arial"/>
              </a:rPr>
              <a:t>Research boundary</a:t>
            </a:r>
            <a:endParaRPr b="1" lang="en-US" sz="17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8280000" y="2808000"/>
            <a:ext cx="2916000" cy="172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This validates independent software commands, synchronized interval targets, connector rigidity, and numerical stability. It does not calibrate physical torque, material response, or payload capacity.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368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369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Minimum-Energy Horizontal Tip Circle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LINKED BRANCH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14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432000" y="972000"/>
            <a:ext cx="3528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375" name=""/>
          <p:cNvSpPr/>
          <p:nvPr/>
        </p:nvSpPr>
        <p:spPr>
          <a:xfrm>
            <a:off x="432000" y="972000"/>
            <a:ext cx="57600" cy="810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376" name=""/>
          <p:cNvSpPr txBox="1"/>
          <p:nvPr/>
        </p:nvSpPr>
        <p:spPr>
          <a:xfrm>
            <a:off x="594000" y="1072800"/>
            <a:ext cx="3294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500000"/>
                </a:solidFill>
                <a:latin typeface="Arial"/>
              </a:rPr>
              <a:t>212.34 mm</a:t>
            </a:r>
            <a:endParaRPr b="1" lang="en-US" sz="23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594000" y="1396800"/>
            <a:ext cx="3294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measured mean radius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4212000" y="972000"/>
            <a:ext cx="3528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379" name=""/>
          <p:cNvSpPr/>
          <p:nvPr/>
        </p:nvSpPr>
        <p:spPr>
          <a:xfrm>
            <a:off x="4212000" y="972000"/>
            <a:ext cx="57600" cy="810000"/>
          </a:xfrm>
          <a:prstGeom prst="rect">
            <a:avLst/>
          </a:prstGeom>
          <a:solidFill>
            <a:srgbClr val="167d8d"/>
          </a:solidFill>
          <a:ln w="7200">
            <a:solidFill>
              <a:srgbClr val="167d8d"/>
            </a:solidFill>
            <a:round/>
          </a:ln>
        </p:spPr>
      </p:sp>
      <p:sp>
        <p:nvSpPr>
          <p:cNvPr id="380" name=""/>
          <p:cNvSpPr txBox="1"/>
          <p:nvPr/>
        </p:nvSpPr>
        <p:spPr>
          <a:xfrm>
            <a:off x="4374000" y="1072800"/>
            <a:ext cx="3294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167d8d"/>
                </a:solidFill>
                <a:latin typeface="Arial"/>
              </a:rPr>
              <a:t>0.71 mm</a:t>
            </a:r>
            <a:endParaRPr b="1" lang="en-US" sz="23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4374000" y="1396800"/>
            <a:ext cx="3294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height peak-to-peak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7992000" y="972000"/>
            <a:ext cx="3528000" cy="81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383" name=""/>
          <p:cNvSpPr/>
          <p:nvPr/>
        </p:nvSpPr>
        <p:spPr>
          <a:xfrm>
            <a:off x="7992000" y="972000"/>
            <a:ext cx="57600" cy="810000"/>
          </a:xfrm>
          <a:prstGeom prst="rect">
            <a:avLst/>
          </a:prstGeom>
          <a:solidFill>
            <a:srgbClr val="d6a84b"/>
          </a:solidFill>
          <a:ln w="7200">
            <a:solidFill>
              <a:srgbClr val="d6a84b"/>
            </a:solidFill>
            <a:round/>
          </a:ln>
        </p:spPr>
      </p:sp>
      <p:sp>
        <p:nvSpPr>
          <p:cNvPr id="384" name=""/>
          <p:cNvSpPr txBox="1"/>
          <p:nvPr/>
        </p:nvSpPr>
        <p:spPr>
          <a:xfrm>
            <a:off x="8154000" y="1072800"/>
            <a:ext cx="3294000" cy="41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300" spc="-1" strike="noStrike">
                <a:solidFill>
                  <a:srgbClr val="d6a84b"/>
                </a:solidFill>
                <a:latin typeface="Arial"/>
              </a:rPr>
              <a:t>0.1254 N·m</a:t>
            </a:r>
            <a:endParaRPr b="1" lang="en-US" sz="2300" spc="-1" strike="noStrike">
              <a:solidFill>
                <a:srgbClr val="d6a84b"/>
              </a:solidFill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8154000" y="1396800"/>
            <a:ext cx="3294000" cy="234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maximum module command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504000" y="2196000"/>
            <a:ext cx="5400000" cy="342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500000"/>
                </a:solidFill>
                <a:latin typeface="Arial"/>
              </a:rPr>
              <a:t>Constrained constant-curvature solution</a:t>
            </a:r>
            <a:endParaRPr b="1" lang="en-US" sz="18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504000" y="2588400"/>
            <a:ext cx="180000" cy="253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6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6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02000" y="2574000"/>
            <a:ext cx="700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60" spc="-1" strike="noStrike">
                <a:solidFill>
                  <a:srgbClr val="17212b"/>
                </a:solidFill>
                <a:latin typeface="Arial"/>
              </a:rPr>
              <a:t>Minimizes 0.5 Σ wᵢτᵢ² subject to requested tip radius and height.</a:t>
            </a:r>
            <a:endParaRPr b="0" lang="en-US" sz="136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504000" y="3092400"/>
            <a:ext cx="180000" cy="253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6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6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02000" y="3078000"/>
            <a:ext cx="700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60" spc="-1" strike="noStrike">
                <a:solidFill>
                  <a:srgbClr val="17212b"/>
                </a:solidFill>
                <a:latin typeface="Arial"/>
              </a:rPr>
              <a:t>All 15 bending intervals and both rigid connector spans are modeled.</a:t>
            </a:r>
            <a:endParaRPr b="0" lang="en-US" sz="136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504000" y="3596400"/>
            <a:ext cx="180000" cy="253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6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6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02000" y="3582000"/>
            <a:ext cx="700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60" spc="-1" strike="noStrike">
                <a:solidFill>
                  <a:srgbClr val="17212b"/>
                </a:solidFill>
                <a:latin typeface="Arial"/>
              </a:rPr>
              <a:t>Optimized torques stay constant while the common bending plane rotates.</a:t>
            </a:r>
            <a:endParaRPr b="0" lang="en-US" sz="136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504000" y="4100400"/>
            <a:ext cx="180000" cy="253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6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6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702000" y="4086000"/>
            <a:ext cx="700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60" spc="-1" strike="noStrike">
                <a:solidFill>
                  <a:srgbClr val="17212b"/>
                </a:solidFill>
                <a:latin typeface="Arial"/>
              </a:rPr>
              <a:t>Default radius: 212.5 mm = half of the 425 mm modeled limb length.</a:t>
            </a:r>
            <a:endParaRPr b="0" lang="en-US" sz="136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504000" y="4604400"/>
            <a:ext cx="180000" cy="253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6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6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02000" y="4590000"/>
            <a:ext cx="700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60" spc="-1" strike="noStrike">
                <a:solidFill>
                  <a:srgbClr val="17212b"/>
                </a:solidFill>
                <a:latin typeface="Arial"/>
              </a:rPr>
              <a:t>Path height is 0.40 m; the 54 s period preserves the prior tip speed.</a:t>
            </a:r>
            <a:endParaRPr b="0" lang="en-US" sz="136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504000" y="5108400"/>
            <a:ext cx="180000" cy="253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16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116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702000" y="5094000"/>
            <a:ext cx="7002000" cy="500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60" spc="-1" strike="noStrike">
                <a:solidFill>
                  <a:srgbClr val="17212b"/>
                </a:solidFill>
                <a:latin typeface="Arial"/>
              </a:rPr>
              <a:t>Full revolution passed: 0.76 mm radial and 0.71 mm height variation.</a:t>
            </a:r>
            <a:endParaRPr b="0" lang="en-US" sz="136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8064000" y="2196000"/>
            <a:ext cx="3420000" cy="295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7d2cc"/>
            </a:solidFill>
            <a:round/>
          </a:ln>
        </p:spPr>
      </p:sp>
      <p:sp>
        <p:nvSpPr>
          <p:cNvPr id="400" name=""/>
          <p:cNvSpPr txBox="1"/>
          <p:nvPr/>
        </p:nvSpPr>
        <p:spPr>
          <a:xfrm>
            <a:off x="8280000" y="2412000"/>
            <a:ext cx="2952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500000"/>
                </a:solidFill>
                <a:latin typeface="Arial"/>
              </a:rPr>
              <a:t>Research boundary</a:t>
            </a:r>
            <a:endParaRPr b="1" lang="en-US" sz="17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8280000" y="2808000"/>
            <a:ext cx="2916000" cy="172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20" spc="-1" strike="noStrike">
                <a:solidFill>
                  <a:srgbClr val="17212b"/>
                </a:solidFill>
                <a:latin typeface="Arial"/>
              </a:rPr>
              <a:t>Energy is a normalized squared-command/elastic proxy. It is not electrical consumption, actuator work, or calibrated mechanical energy in joules.</a:t>
            </a:r>
            <a:endParaRPr b="0" lang="en-US" sz="1320" spc="-1" strike="noStrike">
              <a:solidFill>
                <a:srgbClr val="17212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403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04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Eighteen-Channel Bridge-Voltage Instrumentation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SENSING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15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pic>
        <p:nvPicPr>
          <p:cNvPr id="409" name="" descr=""/>
          <p:cNvPicPr/>
          <p:nvPr/>
        </p:nvPicPr>
        <p:blipFill>
          <a:blip r:embed="rId1"/>
          <a:stretch/>
        </p:blipFill>
        <p:spPr>
          <a:xfrm>
            <a:off x="1362960" y="810000"/>
            <a:ext cx="6886080" cy="5130000"/>
          </a:xfrm>
          <a:prstGeom prst="rect">
            <a:avLst/>
          </a:prstGeom>
          <a:ln w="0">
            <a:noFill/>
          </a:ln>
        </p:spPr>
      </p:pic>
      <p:sp>
        <p:nvSpPr>
          <p:cNvPr id="410" name=""/>
          <p:cNvSpPr txBox="1"/>
          <p:nvPr/>
        </p:nvSpPr>
        <p:spPr>
          <a:xfrm>
            <a:off x="9450000" y="918000"/>
            <a:ext cx="2088000" cy="5259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550" spc="-1" strike="noStrike">
                <a:solidFill>
                  <a:srgbClr val="500000"/>
                </a:solidFill>
                <a:latin typeface="Arial"/>
              </a:rPr>
              <a:t>Repeated sensing layout</a:t>
            </a:r>
            <a:endParaRPr b="1" lang="en-US" sz="155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9396000" y="1310400"/>
            <a:ext cx="180000" cy="22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9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9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9594000" y="1296000"/>
            <a:ext cx="1962000" cy="4788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50" spc="-1" strike="noStrike">
                <a:solidFill>
                  <a:srgbClr val="17212b"/>
                </a:solidFill>
                <a:latin typeface="Arial"/>
              </a:rPr>
              <a:t>Six gauges per module</a:t>
            </a:r>
            <a:endParaRPr b="0" lang="en-US" sz="11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9396000" y="1792800"/>
            <a:ext cx="180000" cy="22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9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9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9594000" y="1778400"/>
            <a:ext cx="1962000" cy="4788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50" spc="-1" strike="noStrike">
                <a:solidFill>
                  <a:srgbClr val="17212b"/>
                </a:solidFill>
                <a:latin typeface="Arial"/>
              </a:rPr>
              <a:t>Two axial stations</a:t>
            </a:r>
            <a:endParaRPr b="0" lang="en-US" sz="11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9396000" y="2275200"/>
            <a:ext cx="180000" cy="22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9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9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9594000" y="2260800"/>
            <a:ext cx="1962000" cy="4788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50" spc="-1" strike="noStrike">
                <a:solidFill>
                  <a:srgbClr val="17212b"/>
                </a:solidFill>
                <a:latin typeface="Arial"/>
              </a:rPr>
              <a:t>Three gauges per ring</a:t>
            </a:r>
            <a:endParaRPr b="0" lang="en-US" sz="11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9396000" y="2757600"/>
            <a:ext cx="180000" cy="22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9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9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9594000" y="2743200"/>
            <a:ext cx="1962000" cy="4788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50" spc="-1" strike="noStrike">
                <a:solidFill>
                  <a:srgbClr val="17212b"/>
                </a:solidFill>
                <a:latin typeface="Arial"/>
              </a:rPr>
              <a:t>18 bridge-voltage channels</a:t>
            </a:r>
            <a:endParaRPr b="0" lang="en-US" sz="11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9396000" y="3240000"/>
            <a:ext cx="180000" cy="22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9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9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9594000" y="3225600"/>
            <a:ext cx="1962000" cy="4788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50" spc="-1" strike="noStrike">
                <a:solidFill>
                  <a:srgbClr val="17212b"/>
                </a:solidFill>
                <a:latin typeface="Arial"/>
              </a:rPr>
              <a:t>18 validity flags</a:t>
            </a:r>
            <a:endParaRPr b="0" lang="en-US" sz="11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9396000" y="3722400"/>
            <a:ext cx="180000" cy="22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9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9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9594000" y="3708000"/>
            <a:ext cx="1962000" cy="4788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50" spc="-1" strike="noStrike">
                <a:solidFill>
                  <a:srgbClr val="17212b"/>
                </a:solidFill>
                <a:latin typeface="Arial"/>
              </a:rPr>
              <a:t>Quarter bridge: 350 Ω, GF 2.0, 2.5 V excitation</a:t>
            </a:r>
            <a:endParaRPr b="0" lang="en-US" sz="11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9396000" y="4204800"/>
            <a:ext cx="180000" cy="22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9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9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9594000" y="4190400"/>
            <a:ext cx="1962000" cy="57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50" spc="-1" strike="noStrike">
                <a:solidFill>
                  <a:srgbClr val="17212b"/>
                </a:solidFill>
                <a:latin typeface="Arial"/>
              </a:rPr>
              <a:t>All 18 voltage graphs open automatically with the simulation launch</a:t>
            </a:r>
            <a:endParaRPr b="0" lang="en-US" sz="11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9396000" y="4687200"/>
            <a:ext cx="180000" cy="22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950" spc="-1" strike="noStrike">
                <a:solidFill>
                  <a:srgbClr val="167d8d"/>
                </a:solidFill>
                <a:latin typeface="Arial"/>
              </a:rPr>
              <a:t>●</a:t>
            </a:r>
            <a:endParaRPr b="1" lang="en-US" sz="95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9594000" y="4672800"/>
            <a:ext cx="1962000" cy="57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50" spc="-1" strike="noStrike">
                <a:solidFill>
                  <a:srgbClr val="17212b"/>
                </a:solidFill>
                <a:latin typeface="Arial"/>
              </a:rPr>
              <a:t>Pose-derived readings remain available without a command</a:t>
            </a:r>
            <a:endParaRPr b="0" lang="en-US" sz="115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9432000" y="5328000"/>
            <a:ext cx="2088000" cy="678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050" spc="-1" strike="noStrike">
                <a:solidFill>
                  <a:srgbClr val="44515e"/>
                </a:solidFill>
                <a:latin typeface="Arial"/>
              </a:rPr>
              <a:t>Live voltage graph captured from /soft_snake/module_N/sensors/... topics.</a:t>
            </a:r>
            <a:endParaRPr b="0" lang="en-US" sz="1050" spc="-1" strike="noStrike">
              <a:solidFill>
                <a:srgbClr val="44515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429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30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Next Research Steps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FORWARD PLAN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16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468000" y="954000"/>
            <a:ext cx="720000" cy="630000"/>
          </a:xfrm>
          <a:prstGeom prst="round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36" name=""/>
          <p:cNvSpPr txBox="1"/>
          <p:nvPr/>
        </p:nvSpPr>
        <p:spPr>
          <a:xfrm>
            <a:off x="486000" y="1090800"/>
            <a:ext cx="684000" cy="384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01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368000" y="997200"/>
            <a:ext cx="2592000" cy="446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450" spc="-1" strike="noStrike">
                <a:solidFill>
                  <a:srgbClr val="500000"/>
                </a:solidFill>
                <a:latin typeface="Arial"/>
              </a:rPr>
              <a:t>Physical gauge selection</a:t>
            </a:r>
            <a:endParaRPr b="1" lang="en-US" sz="145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4104000" y="997200"/>
            <a:ext cx="7164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00" spc="-1" strike="noStrike">
                <a:solidFill>
                  <a:srgbClr val="17212b"/>
                </a:solidFill>
                <a:latin typeface="Arial"/>
              </a:rPr>
              <a:t>Choose a commercial gauge, substrate, adhesive, and temperature compensation strategy.</a:t>
            </a:r>
            <a:endParaRPr b="0" lang="en-US" sz="12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468000" y="1944000"/>
            <a:ext cx="720000" cy="630000"/>
          </a:xfrm>
          <a:prstGeom prst="round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40" name=""/>
          <p:cNvSpPr txBox="1"/>
          <p:nvPr/>
        </p:nvSpPr>
        <p:spPr>
          <a:xfrm>
            <a:off x="486000" y="2080800"/>
            <a:ext cx="684000" cy="384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02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1368000" y="1987200"/>
            <a:ext cx="2592000" cy="446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450" spc="-1" strike="noStrike">
                <a:solidFill>
                  <a:srgbClr val="500000"/>
                </a:solidFill>
                <a:latin typeface="Arial"/>
              </a:rPr>
              <a:t>Bench calibration</a:t>
            </a:r>
            <a:endParaRPr b="1" lang="en-US" sz="145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4104000" y="1987200"/>
            <a:ext cx="7164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00" spc="-1" strike="noStrike">
                <a:solidFill>
                  <a:srgbClr val="17212b"/>
                </a:solidFill>
                <a:latin typeface="Arial"/>
              </a:rPr>
              <a:t>Measure real strain and bridge voltage against known curvature and loading.</a:t>
            </a:r>
            <a:endParaRPr b="0" lang="en-US" sz="12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468000" y="2934000"/>
            <a:ext cx="720000" cy="630000"/>
          </a:xfrm>
          <a:prstGeom prst="round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44" name=""/>
          <p:cNvSpPr txBox="1"/>
          <p:nvPr/>
        </p:nvSpPr>
        <p:spPr>
          <a:xfrm>
            <a:off x="486000" y="3070800"/>
            <a:ext cx="684000" cy="384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03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1368000" y="2977200"/>
            <a:ext cx="2592000" cy="501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450" spc="-1" strike="noStrike">
                <a:solidFill>
                  <a:srgbClr val="500000"/>
                </a:solidFill>
                <a:latin typeface="Arial"/>
              </a:rPr>
              <a:t>Independent shape validation</a:t>
            </a:r>
            <a:endParaRPr b="1" lang="en-US" sz="145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4104000" y="2977200"/>
            <a:ext cx="7164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00" spc="-1" strike="noStrike">
                <a:solidFill>
                  <a:srgbClr val="17212b"/>
                </a:solidFill>
                <a:latin typeface="Arial"/>
              </a:rPr>
              <a:t>Compare reconstructed curvature with motion capture or vision—not the same pose source.</a:t>
            </a:r>
            <a:endParaRPr b="0" lang="en-US" sz="12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468000" y="3924000"/>
            <a:ext cx="720000" cy="630000"/>
          </a:xfrm>
          <a:prstGeom prst="round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48" name=""/>
          <p:cNvSpPr txBox="1"/>
          <p:nvPr/>
        </p:nvSpPr>
        <p:spPr>
          <a:xfrm>
            <a:off x="486000" y="4060800"/>
            <a:ext cx="684000" cy="384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04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1368000" y="3967200"/>
            <a:ext cx="2592000" cy="501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450" spc="-1" strike="noStrike">
                <a:solidFill>
                  <a:srgbClr val="500000"/>
                </a:solidFill>
                <a:latin typeface="Arial"/>
              </a:rPr>
              <a:t>Loaded and directional trials</a:t>
            </a:r>
            <a:endParaRPr b="1" lang="en-US" sz="145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4104000" y="3967200"/>
            <a:ext cx="7164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00" spc="-1" strike="noStrike">
                <a:solidFill>
                  <a:srgbClr val="17212b"/>
                </a:solidFill>
                <a:latin typeface="Arial"/>
              </a:rPr>
              <a:t>Repeat across θ, negative torque, payloads, disturbances, and repeated cycles.</a:t>
            </a:r>
            <a:endParaRPr b="0" lang="en-US" sz="12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468000" y="4914000"/>
            <a:ext cx="720000" cy="630000"/>
          </a:xfrm>
          <a:prstGeom prst="round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52" name=""/>
          <p:cNvSpPr txBox="1"/>
          <p:nvPr/>
        </p:nvSpPr>
        <p:spPr>
          <a:xfrm>
            <a:off x="486000" y="5050800"/>
            <a:ext cx="684000" cy="384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05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368000" y="4957200"/>
            <a:ext cx="2592000" cy="446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450" spc="-1" strike="noStrike">
                <a:solidFill>
                  <a:srgbClr val="500000"/>
                </a:solidFill>
                <a:latin typeface="Arial"/>
              </a:rPr>
              <a:t>Uncertainty and statistics</a:t>
            </a:r>
            <a:endParaRPr b="1" lang="en-US" sz="145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4104000" y="4957200"/>
            <a:ext cx="7164000" cy="464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200" spc="-1" strike="noStrike">
                <a:solidFill>
                  <a:srgbClr val="17212b"/>
                </a:solidFill>
                <a:latin typeface="Arial"/>
              </a:rPr>
              <a:t>Report repeatability, hysteresis, drift, confidence intervals, and failure limits.</a:t>
            </a:r>
            <a:endParaRPr b="0" lang="en-US" sz="1200" spc="-1" strike="noStrike">
              <a:solidFill>
                <a:srgbClr val="17212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2ef"/>
          </a:solidFill>
          <a:ln w="7200">
            <a:solidFill>
              <a:srgbClr val="f4f2ef"/>
            </a:solidFill>
            <a:round/>
          </a:ln>
        </p:spPr>
      </p:sp>
      <p:sp>
        <p:nvSpPr>
          <p:cNvPr id="456" name=""/>
          <p:cNvSpPr/>
          <p:nvPr/>
        </p:nvSpPr>
        <p:spPr>
          <a:xfrm>
            <a:off x="0" y="0"/>
            <a:ext cx="126000" cy="6858000"/>
          </a:xfrm>
          <a:prstGeom prst="rect">
            <a:avLst/>
          </a:prstGeom>
          <a:solidFill>
            <a:srgbClr val="500000"/>
          </a:solidFill>
          <a:ln w="7200">
            <a:solidFill>
              <a:srgbClr val="500000"/>
            </a:solidFill>
            <a:round/>
          </a:ln>
        </p:spPr>
      </p:sp>
      <p:sp>
        <p:nvSpPr>
          <p:cNvPr id="457" name=""/>
          <p:cNvSpPr txBox="1"/>
          <p:nvPr/>
        </p:nvSpPr>
        <p:spPr>
          <a:xfrm>
            <a:off x="414000" y="234000"/>
            <a:ext cx="11052000" cy="426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400" spc="-1" strike="noStrike">
                <a:solidFill>
                  <a:srgbClr val="500000"/>
                </a:solidFill>
                <a:latin typeface="Arial"/>
              </a:rPr>
              <a:t>Current Outcome</a:t>
            </a:r>
            <a:endParaRPr b="1" lang="en-US" sz="24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414000" y="702000"/>
            <a:ext cx="11178000" cy="0"/>
          </a:xfrm>
          <a:prstGeom prst="line">
            <a:avLst/>
          </a:prstGeom>
          <a:ln w="14400">
            <a:solidFill>
              <a:srgbClr val="d6a84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"/>
          <p:cNvSpPr txBox="1"/>
          <p:nvPr/>
        </p:nvSpPr>
        <p:spPr>
          <a:xfrm>
            <a:off x="9000000" y="90000"/>
            <a:ext cx="252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1" lang="en-US" sz="800" spc="-1" strike="noStrike">
                <a:solidFill>
                  <a:srgbClr val="44515e"/>
                </a:solidFill>
                <a:latin typeface="Arial"/>
              </a:rPr>
              <a:t>CONCLUSION</a:t>
            </a:r>
            <a:endParaRPr b="1" lang="en-US" sz="80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414000" y="6642000"/>
            <a:ext cx="7560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Soft continuum limb research progress  •  17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9000000" y="6642000"/>
            <a:ext cx="2556000" cy="193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just">
              <a:buNone/>
            </a:pPr>
            <a:r>
              <a:rPr b="0" lang="en-US" sz="750" spc="-1" strike="noStrike">
                <a:solidFill>
                  <a:srgbClr val="44515e"/>
                </a:solidFill>
                <a:latin typeface="Arial"/>
              </a:rPr>
              <a:t>ETID / MSET research</a:t>
            </a:r>
            <a:endParaRPr b="0" lang="en-US" sz="750" spc="-1" strike="noStrike">
              <a:solidFill>
                <a:srgbClr val="44515e"/>
              </a:solidFill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20000" y="1116000"/>
            <a:ext cx="10620000" cy="440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2500" spc="-1" strike="noStrike">
                <a:solidFill>
                  <a:srgbClr val="500000"/>
                </a:solidFill>
                <a:latin typeface="Arial"/>
              </a:rPr>
              <a:t>A reproducible six-disc research platform now connects</a:t>
            </a:r>
            <a:endParaRPr b="1" lang="en-US" sz="2500" spc="-1" strike="noStrike">
              <a:solidFill>
                <a:srgbClr val="500000"/>
              </a:solidFill>
              <a:latin typeface="Arial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1440000" y="1800000"/>
            <a:ext cx="2160000" cy="257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00" spc="-1" strike="noStrike">
                <a:solidFill>
                  <a:srgbClr val="167d8d"/>
                </a:solidFill>
                <a:latin typeface="Arial"/>
              </a:rPr>
              <a:t>CONTROL</a:t>
            </a:r>
            <a:endParaRPr b="1" lang="en-US" sz="12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3672000" y="1771200"/>
            <a:ext cx="6840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17212b"/>
                </a:solidFill>
                <a:latin typeface="Arial"/>
              </a:rPr>
              <a:t>Position + torque admittance + minimum-energy circle</a:t>
            </a:r>
            <a:endParaRPr b="0" lang="en-US" sz="17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1440000" y="2178000"/>
            <a:ext cx="9072000" cy="0"/>
          </a:xfrm>
          <a:prstGeom prst="line">
            <a:avLst/>
          </a:prstGeom>
          <a:ln w="7200">
            <a:solidFill>
              <a:srgbClr val="d7d2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"/>
          <p:cNvSpPr txBox="1"/>
          <p:nvPr/>
        </p:nvSpPr>
        <p:spPr>
          <a:xfrm>
            <a:off x="1440000" y="2538000"/>
            <a:ext cx="2160000" cy="257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00" spc="-1" strike="noStrike">
                <a:solidFill>
                  <a:srgbClr val="167d8d"/>
                </a:solidFill>
                <a:latin typeface="Arial"/>
              </a:rPr>
              <a:t>SHAPE</a:t>
            </a:r>
            <a:endParaRPr b="1" lang="en-US" sz="12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672000" y="2509200"/>
            <a:ext cx="6840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17212b"/>
                </a:solidFill>
                <a:latin typeface="Arial"/>
              </a:rPr>
              <a:t>Synchronized five-interval constant-curvature target</a:t>
            </a:r>
            <a:endParaRPr b="0" lang="en-US" sz="17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1440000" y="2916000"/>
            <a:ext cx="9072000" cy="0"/>
          </a:xfrm>
          <a:prstGeom prst="line">
            <a:avLst/>
          </a:prstGeom>
          <a:ln w="7200">
            <a:solidFill>
              <a:srgbClr val="d7d2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"/>
          <p:cNvSpPr txBox="1"/>
          <p:nvPr/>
        </p:nvSpPr>
        <p:spPr>
          <a:xfrm>
            <a:off x="1440000" y="3276000"/>
            <a:ext cx="2160000" cy="257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00" spc="-1" strike="noStrike">
                <a:solidFill>
                  <a:srgbClr val="167d8d"/>
                </a:solidFill>
                <a:latin typeface="Arial"/>
              </a:rPr>
              <a:t>SENSING</a:t>
            </a:r>
            <a:endParaRPr b="1" lang="en-US" sz="12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3672000" y="3247200"/>
            <a:ext cx="6840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17212b"/>
                </a:solidFill>
                <a:latin typeface="Arial"/>
              </a:rPr>
              <a:t>Six pose-derived strain channels + bridge voltages</a:t>
            </a:r>
            <a:endParaRPr b="0" lang="en-US" sz="17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1440000" y="3654000"/>
            <a:ext cx="9072000" cy="0"/>
          </a:xfrm>
          <a:prstGeom prst="line">
            <a:avLst/>
          </a:prstGeom>
          <a:ln w="7200">
            <a:solidFill>
              <a:srgbClr val="d7d2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"/>
          <p:cNvSpPr txBox="1"/>
          <p:nvPr/>
        </p:nvSpPr>
        <p:spPr>
          <a:xfrm>
            <a:off x="1440000" y="4014000"/>
            <a:ext cx="2160000" cy="257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00" spc="-1" strike="noStrike">
                <a:solidFill>
                  <a:srgbClr val="167d8d"/>
                </a:solidFill>
                <a:latin typeface="Arial"/>
              </a:rPr>
              <a:t>VISUALIZATION</a:t>
            </a:r>
            <a:endParaRPr b="1" lang="en-US" sz="12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3672000" y="3985200"/>
            <a:ext cx="6840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17212b"/>
                </a:solidFill>
                <a:latin typeface="Arial"/>
              </a:rPr>
              <a:t>Isaac Sim + sensor-driven RViz reconstruction</a:t>
            </a:r>
            <a:endParaRPr b="0" lang="en-US" sz="17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1440000" y="4392000"/>
            <a:ext cx="9072000" cy="0"/>
          </a:xfrm>
          <a:prstGeom prst="line">
            <a:avLst/>
          </a:prstGeom>
          <a:ln w="7200">
            <a:solidFill>
              <a:srgbClr val="d7d2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"/>
          <p:cNvSpPr txBox="1"/>
          <p:nvPr/>
        </p:nvSpPr>
        <p:spPr>
          <a:xfrm>
            <a:off x="1440000" y="4752000"/>
            <a:ext cx="2160000" cy="257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200" spc="-1" strike="noStrike">
                <a:solidFill>
                  <a:srgbClr val="167d8d"/>
                </a:solidFill>
                <a:latin typeface="Arial"/>
              </a:rPr>
              <a:t>EVIDENCE</a:t>
            </a:r>
            <a:endParaRPr b="1" lang="en-US" sz="1200" spc="-1" strike="noStrike">
              <a:solidFill>
                <a:srgbClr val="167d8d"/>
              </a:solidFill>
              <a:latin typeface="Arial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3672000" y="4723200"/>
            <a:ext cx="6840000" cy="329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17212b"/>
                </a:solidFill>
                <a:latin typeface="Arial"/>
              </a:rPr>
              <a:t>Automated tests and research documentation</a:t>
            </a:r>
            <a:endParaRPr b="0" lang="en-US" sz="1700" spc="-1" strike="noStrike">
              <a:solidFill>
                <a:srgbClr val="17212b"/>
              </a:solidFill>
              <a:latin typeface="Arial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080000" y="5868000"/>
            <a:ext cx="9900000" cy="356400"/>
          </a:xfrm>
          <a:prstGeom prst="rect">
            <a:avLst/>
          </a:prstGeom>
          <a:solidFill>
            <a:srgbClr val="500000"/>
          </a:solidFill>
          <a:ln w="0">
            <a:noFill/>
          </a:ln>
        </p:spPr>
        <p:txBody>
          <a:bodyPr lIns="43200" rIns="43200" tIns="43200" bIns="43200" anchor="t">
            <a:noAutofit/>
          </a:bodyPr>
          <a:p>
            <a:pPr algn="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Active boundary: ±1.0 N·m and ±180°  •  Next milestone: physical sensor calibration</a:t>
            </a:r>
            <a:endParaRPr b="1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2026-10-12T11:35:42Z</dcterms:created>
  <dc:creator/>
  <dc:description/>
  <dc:language>en-US</dc:language>
  <cp:lastModifiedBy/>
  <dcterms:modified xsi:type="dcterms:W3CDTF">2026-10-12T11:35:43Z</dcterms:modified>
  <cp:revision>1</cp:revision>
  <dc:subject/>
  <dc:title/>
</cp:coreProperties>
</file>